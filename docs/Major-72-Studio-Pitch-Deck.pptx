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5400" b="1">
                <a:solidFill>
                  <a:srgbClr val="D4A537"/>
                </a:solidFill>
                <a:latin typeface="Calibri"/>
              </a:defRPr>
            </a:pPr>
            <a:r>
              <a:t>MAJOR 72 STUDIO</a:t>
            </a:r>
          </a:p>
        </p:txBody>
      </p:sp>
      <p:sp>
        <p:nvSpPr>
          <p:cNvPr id="3" name="Rectangle 2"/>
          <p:cNvSpPr/>
          <p:nvPr/>
        </p:nvSpPr>
        <p:spPr>
          <a:xfrm>
            <a:off x="731520" y="256032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731520"/>
          </a:xfrm>
          <a:prstGeom prst="rect">
            <a:avLst/>
          </a:prstGeom>
          <a:noFill/>
        </p:spPr>
        <p:txBody>
          <a:bodyPr wrap="square">
            <a:spAutoFit/>
          </a:bodyPr>
          <a:lstStyle/>
          <a:p>
            <a:pPr algn="ctr">
              <a:defRPr sz="3200" b="0">
                <a:solidFill>
                  <a:srgbClr val="FFFFFF"/>
                </a:solidFill>
                <a:latin typeface="Calibri"/>
              </a:defRPr>
            </a:pPr>
            <a:r>
              <a:t>Your Music. Eddie's Ears.</a:t>
            </a:r>
          </a:p>
        </p:txBody>
      </p:sp>
      <p:sp>
        <p:nvSpPr>
          <p:cNvPr id="5" name="TextBox 4"/>
          <p:cNvSpPr txBox="1"/>
          <p:nvPr/>
        </p:nvSpPr>
        <p:spPr>
          <a:xfrm>
            <a:off x="1828800" y="3931920"/>
            <a:ext cx="8229600" cy="731520"/>
          </a:xfrm>
          <a:prstGeom prst="rect">
            <a:avLst/>
          </a:prstGeom>
          <a:noFill/>
        </p:spPr>
        <p:txBody>
          <a:bodyPr wrap="square">
            <a:spAutoFit/>
          </a:bodyPr>
          <a:lstStyle/>
          <a:p>
            <a:pPr algn="ctr">
              <a:defRPr sz="2000" b="0">
                <a:solidFill>
                  <a:srgbClr val="6B6B6B"/>
                </a:solidFill>
                <a:latin typeface="Calibri"/>
              </a:defRPr>
            </a:pPr>
            <a:r>
              <a:t>The Professional-AI Hybrid Music Production Platform</a:t>
            </a:r>
          </a:p>
        </p:txBody>
      </p:sp>
      <p:sp>
        <p:nvSpPr>
          <p:cNvPr id="6" name="TextBox 5"/>
          <p:cNvSpPr txBox="1"/>
          <p:nvPr/>
        </p:nvSpPr>
        <p:spPr>
          <a:xfrm>
            <a:off x="3657600" y="5486400"/>
            <a:ext cx="4572000" cy="457200"/>
          </a:xfrm>
          <a:prstGeom prst="rect">
            <a:avLst/>
          </a:prstGeom>
          <a:noFill/>
        </p:spPr>
        <p:txBody>
          <a:bodyPr wrap="square">
            <a:spAutoFit/>
          </a:bodyPr>
          <a:lstStyle/>
          <a:p>
            <a:pPr algn="ctr">
              <a:defRPr sz="1400" b="0">
                <a:solidFill>
                  <a:srgbClr val="6B6B6B"/>
                </a:solidFill>
                <a:latin typeface="Calibri"/>
              </a:defRPr>
            </a:pPr>
            <a:r>
              <a:t>Investor Presentation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PROBLEM</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058400" cy="731520"/>
          </a:xfrm>
          <a:prstGeom prst="rect">
            <a:avLst/>
          </a:prstGeom>
          <a:noFill/>
        </p:spPr>
        <p:txBody>
          <a:bodyPr wrap="square">
            <a:spAutoFit/>
          </a:bodyPr>
          <a:lstStyle/>
          <a:p>
            <a:pPr algn="l">
              <a:defRPr sz="2600" b="1">
                <a:solidFill>
                  <a:srgbClr val="FFFFFF"/>
                </a:solidFill>
                <a:latin typeface="Calibri"/>
              </a:defRPr>
            </a:pPr>
            <a:r>
              <a:t>AI music is exploding. Professionals don't trust it.</a:t>
            </a:r>
          </a:p>
        </p:txBody>
      </p:sp>
      <p:sp>
        <p:nvSpPr>
          <p:cNvPr id="5" name="Rounded Rectangle 4"/>
          <p:cNvSpPr/>
          <p:nvPr/>
        </p:nvSpPr>
        <p:spPr>
          <a:xfrm>
            <a:off x="731520" y="2560320"/>
            <a:ext cx="3383280" cy="34747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6" name="TextBox 5"/>
          <p:cNvSpPr txBox="1"/>
          <p:nvPr/>
        </p:nvSpPr>
        <p:spPr>
          <a:xfrm>
            <a:off x="1005840" y="2651760"/>
            <a:ext cx="2834640" cy="731520"/>
          </a:xfrm>
          <a:prstGeom prst="rect">
            <a:avLst/>
          </a:prstGeom>
          <a:noFill/>
        </p:spPr>
        <p:txBody>
          <a:bodyPr wrap="square">
            <a:spAutoFit/>
          </a:bodyPr>
          <a:lstStyle/>
          <a:p>
            <a:pPr algn="ctr">
              <a:defRPr sz="4800" b="1">
                <a:solidFill>
                  <a:srgbClr val="E84D4D"/>
                </a:solidFill>
                <a:latin typeface="Calibri"/>
              </a:defRPr>
            </a:pPr>
            <a:r>
              <a:t>50,000</a:t>
            </a:r>
          </a:p>
        </p:txBody>
      </p:sp>
      <p:sp>
        <p:nvSpPr>
          <p:cNvPr id="7" name="TextBox 6"/>
          <p:cNvSpPr txBox="1"/>
          <p:nvPr/>
        </p:nvSpPr>
        <p:spPr>
          <a:xfrm>
            <a:off x="1005840" y="3474720"/>
            <a:ext cx="2834640" cy="1097280"/>
          </a:xfrm>
          <a:prstGeom prst="rect">
            <a:avLst/>
          </a:prstGeom>
          <a:noFill/>
        </p:spPr>
        <p:txBody>
          <a:bodyPr wrap="square">
            <a:spAutoFit/>
          </a:bodyPr>
          <a:lstStyle/>
          <a:p>
            <a:pPr algn="ctr">
              <a:defRPr sz="1600" b="0">
                <a:solidFill>
                  <a:srgbClr val="FFFFFF"/>
                </a:solidFill>
                <a:latin typeface="Calibri"/>
              </a:defRPr>
            </a:pPr>
            <a:r>
              <a:t>AI tracks flood</a:t>
            </a:r>
            <a:br/>
            <a:r>
              <a:t>streaming platforms</a:t>
            </a:r>
            <a:br/>
            <a:r>
              <a:t>EVERY DAY</a:t>
            </a:r>
          </a:p>
        </p:txBody>
      </p:sp>
      <p:sp>
        <p:nvSpPr>
          <p:cNvPr id="8" name="TextBox 7"/>
          <p:cNvSpPr txBox="1"/>
          <p:nvPr/>
        </p:nvSpPr>
        <p:spPr>
          <a:xfrm>
            <a:off x="1005840" y="4754880"/>
            <a:ext cx="2834640" cy="914400"/>
          </a:xfrm>
          <a:prstGeom prst="rect">
            <a:avLst/>
          </a:prstGeom>
          <a:noFill/>
        </p:spPr>
        <p:txBody>
          <a:bodyPr wrap="square">
            <a:spAutoFit/>
          </a:bodyPr>
          <a:lstStyle/>
          <a:p>
            <a:pPr algn="ctr">
              <a:defRPr sz="1200" b="0">
                <a:solidFill>
                  <a:srgbClr val="6B6B6B"/>
                </a:solidFill>
                <a:latin typeface="Calibri"/>
              </a:defRPr>
            </a:pPr>
            <a:r>
              <a:t>Spotify removed 75M</a:t>
            </a:r>
            <a:br/>
            <a:r>
              <a:t>"spammy tracks" last year</a:t>
            </a:r>
          </a:p>
        </p:txBody>
      </p:sp>
      <p:sp>
        <p:nvSpPr>
          <p:cNvPr id="9" name="Rounded Rectangle 8"/>
          <p:cNvSpPr/>
          <p:nvPr/>
        </p:nvSpPr>
        <p:spPr>
          <a:xfrm>
            <a:off x="4480559" y="2560320"/>
            <a:ext cx="3383280" cy="34747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0" name="TextBox 9"/>
          <p:cNvSpPr txBox="1"/>
          <p:nvPr/>
        </p:nvSpPr>
        <p:spPr>
          <a:xfrm>
            <a:off x="4754879" y="2651760"/>
            <a:ext cx="2834640" cy="731520"/>
          </a:xfrm>
          <a:prstGeom prst="rect">
            <a:avLst/>
          </a:prstGeom>
          <a:noFill/>
        </p:spPr>
        <p:txBody>
          <a:bodyPr wrap="square">
            <a:spAutoFit/>
          </a:bodyPr>
          <a:lstStyle/>
          <a:p>
            <a:pPr algn="ctr">
              <a:defRPr sz="4800" b="1">
                <a:solidFill>
                  <a:srgbClr val="E84D4D"/>
                </a:solidFill>
                <a:latin typeface="Calibri"/>
              </a:defRPr>
            </a:pPr>
            <a:r>
              <a:t>80%</a:t>
            </a:r>
          </a:p>
        </p:txBody>
      </p:sp>
      <p:sp>
        <p:nvSpPr>
          <p:cNvPr id="11" name="TextBox 10"/>
          <p:cNvSpPr txBox="1"/>
          <p:nvPr/>
        </p:nvSpPr>
        <p:spPr>
          <a:xfrm>
            <a:off x="4754879" y="3474720"/>
            <a:ext cx="2834640" cy="1097280"/>
          </a:xfrm>
          <a:prstGeom prst="rect">
            <a:avLst/>
          </a:prstGeom>
          <a:noFill/>
        </p:spPr>
        <p:txBody>
          <a:bodyPr wrap="square">
            <a:spAutoFit/>
          </a:bodyPr>
          <a:lstStyle/>
          <a:p>
            <a:pPr algn="ctr">
              <a:defRPr sz="1600" b="0">
                <a:solidFill>
                  <a:srgbClr val="FFFFFF"/>
                </a:solidFill>
                <a:latin typeface="Calibri"/>
              </a:defRPr>
            </a:pPr>
            <a:r>
              <a:t>of producers are</a:t>
            </a:r>
            <a:br/>
            <a:r>
              <a:t>neutral-to-negative</a:t>
            </a:r>
            <a:br/>
            <a:r>
              <a:t>about AI tools</a:t>
            </a:r>
          </a:p>
        </p:txBody>
      </p:sp>
      <p:sp>
        <p:nvSpPr>
          <p:cNvPr id="12" name="TextBox 11"/>
          <p:cNvSpPr txBox="1"/>
          <p:nvPr/>
        </p:nvSpPr>
        <p:spPr>
          <a:xfrm>
            <a:off x="4754879" y="4754880"/>
            <a:ext cx="2834640" cy="914400"/>
          </a:xfrm>
          <a:prstGeom prst="rect">
            <a:avLst/>
          </a:prstGeom>
          <a:noFill/>
        </p:spPr>
        <p:txBody>
          <a:bodyPr wrap="square">
            <a:spAutoFit/>
          </a:bodyPr>
          <a:lstStyle/>
          <a:p>
            <a:pPr algn="ctr">
              <a:defRPr sz="1200" b="0">
                <a:solidFill>
                  <a:srgbClr val="6B6B6B"/>
                </a:solidFill>
                <a:latin typeface="Calibri"/>
              </a:defRPr>
            </a:pPr>
            <a:r>
              <a:t>Only 20% describe their</a:t>
            </a:r>
            <a:br/>
            <a:r>
              <a:t>feelings as positive</a:t>
            </a:r>
          </a:p>
        </p:txBody>
      </p:sp>
      <p:sp>
        <p:nvSpPr>
          <p:cNvPr id="13" name="Rounded Rectangle 12"/>
          <p:cNvSpPr/>
          <p:nvPr/>
        </p:nvSpPr>
        <p:spPr>
          <a:xfrm>
            <a:off x="8229600" y="2560320"/>
            <a:ext cx="3383280" cy="34747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4" name="TextBox 13"/>
          <p:cNvSpPr txBox="1"/>
          <p:nvPr/>
        </p:nvSpPr>
        <p:spPr>
          <a:xfrm>
            <a:off x="8503920" y="2651760"/>
            <a:ext cx="2834640" cy="731520"/>
          </a:xfrm>
          <a:prstGeom prst="rect">
            <a:avLst/>
          </a:prstGeom>
          <a:noFill/>
        </p:spPr>
        <p:txBody>
          <a:bodyPr wrap="square">
            <a:spAutoFit/>
          </a:bodyPr>
          <a:lstStyle/>
          <a:p>
            <a:pPr algn="ctr">
              <a:defRPr sz="4800" b="1">
                <a:solidFill>
                  <a:srgbClr val="E84D4D"/>
                </a:solidFill>
                <a:latin typeface="Calibri"/>
              </a:defRPr>
            </a:pPr>
            <a:r>
              <a:t>$0</a:t>
            </a:r>
          </a:p>
        </p:txBody>
      </p:sp>
      <p:sp>
        <p:nvSpPr>
          <p:cNvPr id="15" name="TextBox 14"/>
          <p:cNvSpPr txBox="1"/>
          <p:nvPr/>
        </p:nvSpPr>
        <p:spPr>
          <a:xfrm>
            <a:off x="8503920" y="3474720"/>
            <a:ext cx="2834640" cy="1097280"/>
          </a:xfrm>
          <a:prstGeom prst="rect">
            <a:avLst/>
          </a:prstGeom>
          <a:noFill/>
        </p:spPr>
        <p:txBody>
          <a:bodyPr wrap="square">
            <a:spAutoFit/>
          </a:bodyPr>
          <a:lstStyle/>
          <a:p>
            <a:pPr algn="ctr">
              <a:defRPr sz="1600" b="0">
                <a:solidFill>
                  <a:srgbClr val="FFFFFF"/>
                </a:solidFill>
                <a:latin typeface="Calibri"/>
              </a:defRPr>
            </a:pPr>
            <a:r>
              <a:t>copyright value of</a:t>
            </a:r>
            <a:br/>
            <a:r>
              <a:t>purely AI-generated</a:t>
            </a:r>
            <a:br/>
            <a:r>
              <a:t>music</a:t>
            </a:r>
          </a:p>
        </p:txBody>
      </p:sp>
      <p:sp>
        <p:nvSpPr>
          <p:cNvPr id="16" name="TextBox 15"/>
          <p:cNvSpPr txBox="1"/>
          <p:nvPr/>
        </p:nvSpPr>
        <p:spPr>
          <a:xfrm>
            <a:off x="8503920" y="4754880"/>
            <a:ext cx="2834640" cy="914400"/>
          </a:xfrm>
          <a:prstGeom prst="rect">
            <a:avLst/>
          </a:prstGeom>
          <a:noFill/>
        </p:spPr>
        <p:txBody>
          <a:bodyPr wrap="square">
            <a:spAutoFit/>
          </a:bodyPr>
          <a:lstStyle/>
          <a:p>
            <a:pPr algn="ctr">
              <a:defRPr sz="1200" b="0">
                <a:solidFill>
                  <a:srgbClr val="6B6B6B"/>
                </a:solidFill>
                <a:latin typeface="Calibri"/>
              </a:defRPr>
            </a:pPr>
            <a:r>
              <a:t>USCO: prompts alone don't</a:t>
            </a:r>
            <a:br/>
            <a:r>
              <a:t>create copyrightable works</a:t>
            </a:r>
          </a:p>
        </p:txBody>
      </p:sp>
      <p:sp>
        <p:nvSpPr>
          <p:cNvPr id="17" name="TextBox 16"/>
          <p:cNvSpPr txBox="1"/>
          <p:nvPr/>
        </p:nvSpPr>
        <p:spPr>
          <a:xfrm>
            <a:off x="731520" y="6217920"/>
            <a:ext cx="10058400" cy="457200"/>
          </a:xfrm>
          <a:prstGeom prst="rect">
            <a:avLst/>
          </a:prstGeom>
          <a:noFill/>
        </p:spPr>
        <p:txBody>
          <a:bodyPr wrap="square">
            <a:spAutoFit/>
          </a:bodyPr>
          <a:lstStyle/>
          <a:p>
            <a:pPr algn="ctr">
              <a:defRPr sz="1400" b="1">
                <a:solidFill>
                  <a:srgbClr val="D4A537"/>
                </a:solidFill>
                <a:latin typeface="Calibri"/>
              </a:defRPr>
            </a:pPr>
            <a:r>
              <a:t>The gap: professional creative judgment — knowing how to make a mix breathe — is the one thing AI can't generate alone.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MARKET</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2468880" cy="1645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5" name="TextBox 4"/>
          <p:cNvSpPr txBox="1"/>
          <p:nvPr/>
        </p:nvSpPr>
        <p:spPr>
          <a:xfrm>
            <a:off x="914400" y="1645920"/>
            <a:ext cx="2103120" cy="640080"/>
          </a:xfrm>
          <a:prstGeom prst="rect">
            <a:avLst/>
          </a:prstGeom>
          <a:noFill/>
        </p:spPr>
        <p:txBody>
          <a:bodyPr wrap="square">
            <a:spAutoFit/>
          </a:bodyPr>
          <a:lstStyle/>
          <a:p>
            <a:pPr algn="ctr">
              <a:defRPr sz="3600" b="1">
                <a:solidFill>
                  <a:srgbClr val="D4A537"/>
                </a:solidFill>
                <a:latin typeface="Calibri"/>
              </a:defRPr>
            </a:pPr>
            <a:r>
              <a:t>$2.4B</a:t>
            </a:r>
          </a:p>
        </p:txBody>
      </p:sp>
      <p:sp>
        <p:nvSpPr>
          <p:cNvPr id="6" name="TextBox 5"/>
          <p:cNvSpPr txBox="1"/>
          <p:nvPr/>
        </p:nvSpPr>
        <p:spPr>
          <a:xfrm>
            <a:off x="914400" y="2286000"/>
            <a:ext cx="2103120" cy="365760"/>
          </a:xfrm>
          <a:prstGeom prst="rect">
            <a:avLst/>
          </a:prstGeom>
          <a:noFill/>
        </p:spPr>
        <p:txBody>
          <a:bodyPr wrap="square">
            <a:spAutoFit/>
          </a:bodyPr>
          <a:lstStyle/>
          <a:p>
            <a:pPr algn="ctr">
              <a:defRPr sz="1400" b="1">
                <a:solidFill>
                  <a:srgbClr val="FFFFFF"/>
                </a:solidFill>
                <a:latin typeface="Calibri"/>
              </a:defRPr>
            </a:pPr>
            <a:r>
              <a:t>Market Size (2024)</a:t>
            </a:r>
          </a:p>
        </p:txBody>
      </p:sp>
      <p:sp>
        <p:nvSpPr>
          <p:cNvPr id="7" name="TextBox 6"/>
          <p:cNvSpPr txBox="1"/>
          <p:nvPr/>
        </p:nvSpPr>
        <p:spPr>
          <a:xfrm>
            <a:off x="914400" y="2651760"/>
            <a:ext cx="2103120" cy="365760"/>
          </a:xfrm>
          <a:prstGeom prst="rect">
            <a:avLst/>
          </a:prstGeom>
          <a:noFill/>
        </p:spPr>
        <p:txBody>
          <a:bodyPr wrap="square">
            <a:spAutoFit/>
          </a:bodyPr>
          <a:lstStyle/>
          <a:p>
            <a:pPr algn="ctr">
              <a:defRPr sz="1200" b="0">
                <a:solidFill>
                  <a:srgbClr val="6B6B6B"/>
                </a:solidFill>
                <a:latin typeface="Calibri"/>
              </a:defRPr>
            </a:pPr>
            <a:r>
              <a:t>Generative AI in Music</a:t>
            </a:r>
          </a:p>
        </p:txBody>
      </p:sp>
      <p:sp>
        <p:nvSpPr>
          <p:cNvPr id="8" name="Rounded Rectangle 7"/>
          <p:cNvSpPr/>
          <p:nvPr/>
        </p:nvSpPr>
        <p:spPr>
          <a:xfrm>
            <a:off x="3566160" y="1554480"/>
            <a:ext cx="2468880" cy="1645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9" name="TextBox 8"/>
          <p:cNvSpPr txBox="1"/>
          <p:nvPr/>
        </p:nvSpPr>
        <p:spPr>
          <a:xfrm>
            <a:off x="3749040" y="1645920"/>
            <a:ext cx="2103120" cy="640080"/>
          </a:xfrm>
          <a:prstGeom prst="rect">
            <a:avLst/>
          </a:prstGeom>
          <a:noFill/>
        </p:spPr>
        <p:txBody>
          <a:bodyPr wrap="square">
            <a:spAutoFit/>
          </a:bodyPr>
          <a:lstStyle/>
          <a:p>
            <a:pPr algn="ctr">
              <a:defRPr sz="3600" b="1">
                <a:solidFill>
                  <a:srgbClr val="D4A537"/>
                </a:solidFill>
                <a:latin typeface="Calibri"/>
              </a:defRPr>
            </a:pPr>
            <a:r>
              <a:t>$22.7B</a:t>
            </a:r>
          </a:p>
        </p:txBody>
      </p:sp>
      <p:sp>
        <p:nvSpPr>
          <p:cNvPr id="10" name="TextBox 9"/>
          <p:cNvSpPr txBox="1"/>
          <p:nvPr/>
        </p:nvSpPr>
        <p:spPr>
          <a:xfrm>
            <a:off x="3749040" y="2286000"/>
            <a:ext cx="2103120" cy="365760"/>
          </a:xfrm>
          <a:prstGeom prst="rect">
            <a:avLst/>
          </a:prstGeom>
          <a:noFill/>
        </p:spPr>
        <p:txBody>
          <a:bodyPr wrap="square">
            <a:spAutoFit/>
          </a:bodyPr>
          <a:lstStyle/>
          <a:p>
            <a:pPr algn="ctr">
              <a:defRPr sz="1400" b="1">
                <a:solidFill>
                  <a:srgbClr val="FFFFFF"/>
                </a:solidFill>
                <a:latin typeface="Calibri"/>
              </a:defRPr>
            </a:pPr>
            <a:r>
              <a:t>Projected (2035)</a:t>
            </a:r>
          </a:p>
        </p:txBody>
      </p:sp>
      <p:sp>
        <p:nvSpPr>
          <p:cNvPr id="11" name="TextBox 10"/>
          <p:cNvSpPr txBox="1"/>
          <p:nvPr/>
        </p:nvSpPr>
        <p:spPr>
          <a:xfrm>
            <a:off x="3749040" y="2651760"/>
            <a:ext cx="2103120" cy="365760"/>
          </a:xfrm>
          <a:prstGeom prst="rect">
            <a:avLst/>
          </a:prstGeom>
          <a:noFill/>
        </p:spPr>
        <p:txBody>
          <a:bodyPr wrap="square">
            <a:spAutoFit/>
          </a:bodyPr>
          <a:lstStyle/>
          <a:p>
            <a:pPr algn="ctr">
              <a:defRPr sz="1200" b="0">
                <a:solidFill>
                  <a:srgbClr val="6B6B6B"/>
                </a:solidFill>
                <a:latin typeface="Calibri"/>
              </a:defRPr>
            </a:pPr>
            <a:r>
              <a:t>22-30% CAGR</a:t>
            </a:r>
          </a:p>
        </p:txBody>
      </p:sp>
      <p:sp>
        <p:nvSpPr>
          <p:cNvPr id="12" name="Rounded Rectangle 11"/>
          <p:cNvSpPr/>
          <p:nvPr/>
        </p:nvSpPr>
        <p:spPr>
          <a:xfrm>
            <a:off x="6400800" y="1554480"/>
            <a:ext cx="2468880" cy="1645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3" name="TextBox 12"/>
          <p:cNvSpPr txBox="1"/>
          <p:nvPr/>
        </p:nvSpPr>
        <p:spPr>
          <a:xfrm>
            <a:off x="6583680" y="1645920"/>
            <a:ext cx="2103120" cy="640080"/>
          </a:xfrm>
          <a:prstGeom prst="rect">
            <a:avLst/>
          </a:prstGeom>
          <a:noFill/>
        </p:spPr>
        <p:txBody>
          <a:bodyPr wrap="square">
            <a:spAutoFit/>
          </a:bodyPr>
          <a:lstStyle/>
          <a:p>
            <a:pPr algn="ctr">
              <a:defRPr sz="3600" b="1">
                <a:solidFill>
                  <a:srgbClr val="D4A537"/>
                </a:solidFill>
                <a:latin typeface="Calibri"/>
              </a:defRPr>
            </a:pPr>
            <a:r>
              <a:t>$300M</a:t>
            </a:r>
          </a:p>
        </p:txBody>
      </p:sp>
      <p:sp>
        <p:nvSpPr>
          <p:cNvPr id="14" name="TextBox 13"/>
          <p:cNvSpPr txBox="1"/>
          <p:nvPr/>
        </p:nvSpPr>
        <p:spPr>
          <a:xfrm>
            <a:off x="6583680" y="2286000"/>
            <a:ext cx="2103120" cy="365760"/>
          </a:xfrm>
          <a:prstGeom prst="rect">
            <a:avLst/>
          </a:prstGeom>
          <a:noFill/>
        </p:spPr>
        <p:txBody>
          <a:bodyPr wrap="square">
            <a:spAutoFit/>
          </a:bodyPr>
          <a:lstStyle/>
          <a:p>
            <a:pPr algn="ctr">
              <a:defRPr sz="1400" b="1">
                <a:solidFill>
                  <a:srgbClr val="FFFFFF"/>
                </a:solidFill>
                <a:latin typeface="Calibri"/>
              </a:defRPr>
            </a:pPr>
            <a:r>
              <a:t>Suno ARR (Feb 2026)</a:t>
            </a:r>
          </a:p>
        </p:txBody>
      </p:sp>
      <p:sp>
        <p:nvSpPr>
          <p:cNvPr id="15" name="TextBox 14"/>
          <p:cNvSpPr txBox="1"/>
          <p:nvPr/>
        </p:nvSpPr>
        <p:spPr>
          <a:xfrm>
            <a:off x="6583680" y="2651760"/>
            <a:ext cx="2103120" cy="365760"/>
          </a:xfrm>
          <a:prstGeom prst="rect">
            <a:avLst/>
          </a:prstGeom>
          <a:noFill/>
        </p:spPr>
        <p:txBody>
          <a:bodyPr wrap="square">
            <a:spAutoFit/>
          </a:bodyPr>
          <a:lstStyle/>
          <a:p>
            <a:pPr algn="ctr">
              <a:defRPr sz="1200" b="0">
                <a:solidFill>
                  <a:srgbClr val="6B6B6B"/>
                </a:solidFill>
                <a:latin typeface="Calibri"/>
              </a:defRPr>
            </a:pPr>
            <a:r>
              <a:t>2M paid subscribers</a:t>
            </a:r>
          </a:p>
        </p:txBody>
      </p:sp>
      <p:sp>
        <p:nvSpPr>
          <p:cNvPr id="16" name="Rounded Rectangle 15"/>
          <p:cNvSpPr/>
          <p:nvPr/>
        </p:nvSpPr>
        <p:spPr>
          <a:xfrm>
            <a:off x="9235440" y="1554480"/>
            <a:ext cx="2468880" cy="1645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7" name="TextBox 16"/>
          <p:cNvSpPr txBox="1"/>
          <p:nvPr/>
        </p:nvSpPr>
        <p:spPr>
          <a:xfrm>
            <a:off x="9418320" y="1645920"/>
            <a:ext cx="2103120" cy="640080"/>
          </a:xfrm>
          <a:prstGeom prst="rect">
            <a:avLst/>
          </a:prstGeom>
          <a:noFill/>
        </p:spPr>
        <p:txBody>
          <a:bodyPr wrap="square">
            <a:spAutoFit/>
          </a:bodyPr>
          <a:lstStyle/>
          <a:p>
            <a:pPr algn="ctr">
              <a:defRPr sz="3600" b="1">
                <a:solidFill>
                  <a:srgbClr val="D4A537"/>
                </a:solidFill>
                <a:latin typeface="Calibri"/>
              </a:defRPr>
            </a:pPr>
            <a:r>
              <a:t>$75M</a:t>
            </a:r>
          </a:p>
        </p:txBody>
      </p:sp>
      <p:sp>
        <p:nvSpPr>
          <p:cNvPr id="18" name="TextBox 17"/>
          <p:cNvSpPr txBox="1"/>
          <p:nvPr/>
        </p:nvSpPr>
        <p:spPr>
          <a:xfrm>
            <a:off x="9418320" y="2286000"/>
            <a:ext cx="2103120" cy="365760"/>
          </a:xfrm>
          <a:prstGeom prst="rect">
            <a:avLst/>
          </a:prstGeom>
          <a:noFill/>
        </p:spPr>
        <p:txBody>
          <a:bodyPr wrap="square">
            <a:spAutoFit/>
          </a:bodyPr>
          <a:lstStyle/>
          <a:p>
            <a:pPr algn="ctr">
              <a:defRPr sz="1400" b="1">
                <a:solidFill>
                  <a:srgbClr val="FFFFFF"/>
                </a:solidFill>
                <a:latin typeface="Calibri"/>
              </a:defRPr>
            </a:pPr>
            <a:r>
              <a:t>Songfinch Revenue</a:t>
            </a:r>
          </a:p>
        </p:txBody>
      </p:sp>
      <p:sp>
        <p:nvSpPr>
          <p:cNvPr id="19" name="TextBox 18"/>
          <p:cNvSpPr txBox="1"/>
          <p:nvPr/>
        </p:nvSpPr>
        <p:spPr>
          <a:xfrm>
            <a:off x="9418320" y="2651760"/>
            <a:ext cx="2103120" cy="365760"/>
          </a:xfrm>
          <a:prstGeom prst="rect">
            <a:avLst/>
          </a:prstGeom>
          <a:noFill/>
        </p:spPr>
        <p:txBody>
          <a:bodyPr wrap="square">
            <a:spAutoFit/>
          </a:bodyPr>
          <a:lstStyle/>
          <a:p>
            <a:pPr algn="ctr">
              <a:defRPr sz="1200" b="0">
                <a:solidFill>
                  <a:srgbClr val="6B6B6B"/>
                </a:solidFill>
                <a:latin typeface="Calibri"/>
              </a:defRPr>
            </a:pPr>
            <a:r>
              <a:t>Custom songs (2023)</a:t>
            </a:r>
          </a:p>
        </p:txBody>
      </p:sp>
      <p:sp>
        <p:nvSpPr>
          <p:cNvPr id="20" name="TextBox 19"/>
          <p:cNvSpPr txBox="1"/>
          <p:nvPr/>
        </p:nvSpPr>
        <p:spPr>
          <a:xfrm>
            <a:off x="731520" y="3657600"/>
            <a:ext cx="10515600" cy="2743200"/>
          </a:xfrm>
          <a:prstGeom prst="rect">
            <a:avLst/>
          </a:prstGeom>
          <a:noFill/>
        </p:spPr>
        <p:txBody>
          <a:bodyPr wrap="square">
            <a:spAutoFit/>
          </a:bodyPr>
          <a:lstStyle/>
          <a:p>
            <a:pPr algn="l">
              <a:defRPr sz="1600" b="0">
                <a:solidFill>
                  <a:srgbClr val="FFFFFF"/>
                </a:solidFill>
                <a:latin typeface="Calibri"/>
              </a:defRPr>
            </a:pPr>
          </a:p>
          <a:p>
            <a:pPr algn="l">
              <a:spcBef>
                <a:spcPts val="1000"/>
              </a:spcBef>
              <a:defRPr sz="1500" b="0">
                <a:solidFill>
                  <a:srgbClr val="E0E0E0"/>
                </a:solidFill>
                <a:latin typeface="Calibri"/>
              </a:defRPr>
            </a:pPr>
            <a:r>
              <a:t>  •  87% of artists have used AI in their workflow (LANDR, 1,200+ artists)</a:t>
            </a:r>
          </a:p>
          <a:p>
            <a:pPr algn="l">
              <a:spcBef>
                <a:spcPts val="1000"/>
              </a:spcBef>
              <a:defRPr sz="1500" b="0">
                <a:solidFill>
                  <a:srgbClr val="E0E0E0"/>
                </a:solidFill>
                <a:latin typeface="Calibri"/>
              </a:defRPr>
            </a:pPr>
            <a:r>
              <a:t>  •  ~50% of producers are "cautious experimenters" — interested but uncommitted</a:t>
            </a:r>
          </a:p>
          <a:p>
            <a:pPr algn="l">
              <a:spcBef>
                <a:spcPts val="1000"/>
              </a:spcBef>
              <a:defRPr sz="1500" b="0">
                <a:solidFill>
                  <a:srgbClr val="E0E0E0"/>
                </a:solidFill>
                <a:latin typeface="Calibri"/>
              </a:defRPr>
            </a:pPr>
            <a:r>
              <a:t>  •  &gt;33% fear "musical sameness" — generic output that erodes their identity</a:t>
            </a:r>
          </a:p>
          <a:p>
            <a:pPr algn="l">
              <a:spcBef>
                <a:spcPts val="1000"/>
              </a:spcBef>
              <a:defRPr sz="1500" b="0">
                <a:solidFill>
                  <a:srgbClr val="E0E0E0"/>
                </a:solidFill>
                <a:latin typeface="Calibri"/>
              </a:defRPr>
            </a:pPr>
            <a:r>
              <a:t>  •  $591M+ in music tech startup funding in 2025 alone</a:t>
            </a:r>
          </a:p>
          <a:p>
            <a:pPr algn="l">
              <a:spcBef>
                <a:spcPts val="1000"/>
              </a:spcBef>
              <a:defRPr sz="1500" b="0">
                <a:solidFill>
                  <a:srgbClr val="E0E0E0"/>
                </a:solidFill>
                <a:latin typeface="Calibri"/>
              </a:defRPr>
            </a:pPr>
            <a:r>
              <a:t>  •  112,000+ tracks uploaded to streaming platforms daily — nearly half AI-touched</a:t>
            </a:r>
          </a:p>
        </p:txBody>
      </p:sp>
      <p:sp>
        <p:nvSpPr>
          <p:cNvPr id="21" name="TextBox 20"/>
          <p:cNvSpPr txBox="1"/>
          <p:nvPr/>
        </p:nvSpPr>
        <p:spPr>
          <a:xfrm>
            <a:off x="731520" y="6217920"/>
            <a:ext cx="10058400" cy="457200"/>
          </a:xfrm>
          <a:prstGeom prst="rect">
            <a:avLst/>
          </a:prstGeom>
          <a:noFill/>
        </p:spPr>
        <p:txBody>
          <a:bodyPr wrap="square">
            <a:spAutoFit/>
          </a:bodyPr>
          <a:lstStyle/>
          <a:p>
            <a:pPr algn="l">
              <a:defRPr sz="1000" b="0">
                <a:solidFill>
                  <a:srgbClr val="6B6B6B"/>
                </a:solidFill>
                <a:latin typeface="Calibri"/>
              </a:defRPr>
            </a:pPr>
            <a:r>
              <a:t>Sources: Spherical Insights, MRFR, Grand View Research, TechCrunch, Billboard, LANDR, Sonarworks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INSIGHT</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1371600"/>
          </a:xfrm>
          <a:prstGeom prst="rect">
            <a:avLst/>
          </a:prstGeom>
          <a:noFill/>
        </p:spPr>
        <p:txBody>
          <a:bodyPr wrap="square">
            <a:spAutoFit/>
          </a:bodyPr>
          <a:lstStyle/>
          <a:p>
            <a:pPr algn="ctr">
              <a:defRPr sz="3000" b="1">
                <a:solidFill>
                  <a:srgbClr val="FFFFFF"/>
                </a:solidFill>
                <a:latin typeface="Calibri"/>
              </a:defRPr>
            </a:pPr>
            <a:r>
              <a:t>"Producers want AI for technical drudgery.</a:t>
            </a:r>
            <a:br/>
            <a:r>
              <a:t>They want to keep the creative decisions."</a:t>
            </a:r>
          </a:p>
        </p:txBody>
      </p:sp>
      <p:sp>
        <p:nvSpPr>
          <p:cNvPr id="5" name="TextBox 4"/>
          <p:cNvSpPr txBox="1"/>
          <p:nvPr/>
        </p:nvSpPr>
        <p:spPr>
          <a:xfrm>
            <a:off x="1371600" y="3474720"/>
            <a:ext cx="9144000" cy="548640"/>
          </a:xfrm>
          <a:prstGeom prst="rect">
            <a:avLst/>
          </a:prstGeom>
          <a:noFill/>
        </p:spPr>
        <p:txBody>
          <a:bodyPr wrap="square">
            <a:spAutoFit/>
          </a:bodyPr>
          <a:lstStyle/>
          <a:p>
            <a:pPr algn="ctr">
              <a:defRPr sz="1600" b="0">
                <a:solidFill>
                  <a:srgbClr val="6B6B6B"/>
                </a:solidFill>
                <a:latin typeface="Calibri"/>
              </a:defRPr>
            </a:pPr>
            <a:r>
              <a:t>— Sonarworks / Sound On Sound 2026 Survey (1,100+ working producers)</a:t>
            </a:r>
          </a:p>
        </p:txBody>
      </p:sp>
      <p:sp>
        <p:nvSpPr>
          <p:cNvPr id="6" name="Rounded Rectangle 5"/>
          <p:cNvSpPr/>
          <p:nvPr/>
        </p:nvSpPr>
        <p:spPr>
          <a:xfrm>
            <a:off x="914400" y="4206240"/>
            <a:ext cx="4754880" cy="20116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7" name="TextBox 6"/>
          <p:cNvSpPr txBox="1"/>
          <p:nvPr/>
        </p:nvSpPr>
        <p:spPr>
          <a:xfrm>
            <a:off x="1188720" y="4297680"/>
            <a:ext cx="4206240" cy="365760"/>
          </a:xfrm>
          <a:prstGeom prst="rect">
            <a:avLst/>
          </a:prstGeom>
          <a:noFill/>
        </p:spPr>
        <p:txBody>
          <a:bodyPr wrap="square">
            <a:spAutoFit/>
          </a:bodyPr>
          <a:lstStyle/>
          <a:p>
            <a:pPr algn="l">
              <a:defRPr sz="1600" b="1">
                <a:solidFill>
                  <a:srgbClr val="4DC96D"/>
                </a:solidFill>
                <a:latin typeface="Calibri"/>
              </a:defRPr>
            </a:pPr>
            <a:r>
              <a:t>WANT AI FOR (Technical)</a:t>
            </a:r>
          </a:p>
          <a:p>
            <a:pPr algn="l">
              <a:spcBef>
                <a:spcPts val="600"/>
              </a:spcBef>
              <a:defRPr sz="1400" b="0">
                <a:solidFill>
                  <a:srgbClr val="E0E0E0"/>
                </a:solidFill>
                <a:latin typeface="Calibri"/>
              </a:defRPr>
            </a:pPr>
            <a:r>
              <a:t>  ✓  Stem separation (73.9%)</a:t>
            </a:r>
          </a:p>
          <a:p>
            <a:pPr algn="l">
              <a:spcBef>
                <a:spcPts val="600"/>
              </a:spcBef>
              <a:defRPr sz="1400" b="0">
                <a:solidFill>
                  <a:srgbClr val="E0E0E0"/>
                </a:solidFill>
                <a:latin typeface="Calibri"/>
              </a:defRPr>
            </a:pPr>
            <a:r>
              <a:t>  ✓  Vocal tuning &amp; drum editing</a:t>
            </a:r>
          </a:p>
          <a:p>
            <a:pPr algn="l">
              <a:spcBef>
                <a:spcPts val="600"/>
              </a:spcBef>
              <a:defRPr sz="1400" b="0">
                <a:solidFill>
                  <a:srgbClr val="E0E0E0"/>
                </a:solidFill>
                <a:latin typeface="Calibri"/>
              </a:defRPr>
            </a:pPr>
            <a:r>
              <a:t>  ✓  File management &amp; cleanup</a:t>
            </a:r>
          </a:p>
          <a:p>
            <a:pPr algn="l">
              <a:spcBef>
                <a:spcPts val="600"/>
              </a:spcBef>
              <a:defRPr sz="1400" b="0">
                <a:solidFill>
                  <a:srgbClr val="E0E0E0"/>
                </a:solidFill>
                <a:latin typeface="Calibri"/>
              </a:defRPr>
            </a:pPr>
            <a:r>
              <a:t>  ✓  Reference mastering</a:t>
            </a:r>
          </a:p>
        </p:txBody>
      </p:sp>
      <p:sp>
        <p:nvSpPr>
          <p:cNvPr id="8" name="Rounded Rectangle 7"/>
          <p:cNvSpPr/>
          <p:nvPr/>
        </p:nvSpPr>
        <p:spPr>
          <a:xfrm>
            <a:off x="6400800" y="4206240"/>
            <a:ext cx="4754880" cy="20116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9" name="TextBox 8"/>
          <p:cNvSpPr txBox="1"/>
          <p:nvPr/>
        </p:nvSpPr>
        <p:spPr>
          <a:xfrm>
            <a:off x="6675120" y="4297680"/>
            <a:ext cx="4206240" cy="365760"/>
          </a:xfrm>
          <a:prstGeom prst="rect">
            <a:avLst/>
          </a:prstGeom>
          <a:noFill/>
        </p:spPr>
        <p:txBody>
          <a:bodyPr wrap="square">
            <a:spAutoFit/>
          </a:bodyPr>
          <a:lstStyle/>
          <a:p>
            <a:pPr algn="l">
              <a:defRPr sz="1600" b="1">
                <a:solidFill>
                  <a:srgbClr val="E84D4D"/>
                </a:solidFill>
                <a:latin typeface="Calibri"/>
              </a:defRPr>
            </a:pPr>
            <a:r>
              <a:t>DON'T WANT AI FOR (Creative)</a:t>
            </a:r>
          </a:p>
          <a:p>
            <a:pPr algn="l">
              <a:spcBef>
                <a:spcPts val="600"/>
              </a:spcBef>
              <a:defRPr sz="1400" b="0">
                <a:solidFill>
                  <a:srgbClr val="E0E0E0"/>
                </a:solidFill>
                <a:latin typeface="Calibri"/>
              </a:defRPr>
            </a:pPr>
            <a:r>
              <a:t>  ✗  Musical direction &amp; taste</a:t>
            </a:r>
          </a:p>
          <a:p>
            <a:pPr algn="l">
              <a:spcBef>
                <a:spcPts val="600"/>
              </a:spcBef>
              <a:defRPr sz="1400" b="0">
                <a:solidFill>
                  <a:srgbClr val="E0E0E0"/>
                </a:solidFill>
                <a:latin typeface="Calibri"/>
              </a:defRPr>
            </a:pPr>
            <a:r>
              <a:t>  ✗  Emotional judgment</a:t>
            </a:r>
          </a:p>
          <a:p>
            <a:pPr algn="l">
              <a:spcBef>
                <a:spcPts val="600"/>
              </a:spcBef>
              <a:defRPr sz="1400" b="0">
                <a:solidFill>
                  <a:srgbClr val="E0E0E0"/>
                </a:solidFill>
                <a:latin typeface="Calibri"/>
              </a:defRPr>
            </a:pPr>
            <a:r>
              <a:t>  ✗  Arrangement decisions</a:t>
            </a:r>
          </a:p>
          <a:p>
            <a:pPr algn="l">
              <a:spcBef>
                <a:spcPts val="600"/>
              </a:spcBef>
              <a:defRPr sz="1400" b="0">
                <a:solidFill>
                  <a:srgbClr val="E0E0E0"/>
                </a:solidFill>
                <a:latin typeface="Calibri"/>
              </a:defRPr>
            </a:pPr>
            <a:r>
              <a:t>  ✗  Artist identity &amp; sound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SOLUTION</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058400" cy="731520"/>
          </a:xfrm>
          <a:prstGeom prst="rect">
            <a:avLst/>
          </a:prstGeom>
          <a:noFill/>
        </p:spPr>
        <p:txBody>
          <a:bodyPr wrap="square">
            <a:spAutoFit/>
          </a:bodyPr>
          <a:lstStyle/>
          <a:p>
            <a:pPr algn="l">
              <a:defRPr sz="2200" b="1">
                <a:solidFill>
                  <a:srgbClr val="FFFFFF"/>
                </a:solidFill>
                <a:latin typeface="Calibri"/>
              </a:defRPr>
            </a:pPr>
            <a:r>
              <a:t>Major 72 Studio encodes professional taste into AI-guided production.</a:t>
            </a:r>
          </a:p>
        </p:txBody>
      </p:sp>
      <p:sp>
        <p:nvSpPr>
          <p:cNvPr id="5" name="Rounded Rectangle 4"/>
          <p:cNvSpPr/>
          <p:nvPr/>
        </p:nvSpPr>
        <p:spPr>
          <a:xfrm>
            <a:off x="548640" y="2468880"/>
            <a:ext cx="2377440" cy="13716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4A537"/>
                </a:solidFill>
                <a:latin typeface="Calibri"/>
              </a:defRPr>
            </a:pPr>
            <a:r>
              <a:t>Upload</a:t>
            </a:r>
            <a:br/>
            <a:r>
              <a:t>Your Idea</a:t>
            </a:r>
          </a:p>
        </p:txBody>
      </p:sp>
      <p:sp>
        <p:nvSpPr>
          <p:cNvPr id="6" name="TextBox 5"/>
          <p:cNvSpPr txBox="1"/>
          <p:nvPr/>
        </p:nvSpPr>
        <p:spPr>
          <a:xfrm>
            <a:off x="548640" y="3931920"/>
            <a:ext cx="2377440" cy="731520"/>
          </a:xfrm>
          <a:prstGeom prst="rect">
            <a:avLst/>
          </a:prstGeom>
          <a:noFill/>
        </p:spPr>
        <p:txBody>
          <a:bodyPr wrap="square">
            <a:spAutoFit/>
          </a:bodyPr>
          <a:lstStyle/>
          <a:p>
            <a:pPr algn="ctr">
              <a:defRPr sz="1200" b="0">
                <a:solidFill>
                  <a:srgbClr val="6B6B6B"/>
                </a:solidFill>
                <a:latin typeface="Calibri"/>
              </a:defRPr>
            </a:pPr>
            <a:r>
              <a:t>Phone recording,</a:t>
            </a:r>
            <a:br/>
            <a:r>
              <a:t>bass riff, vocal demo</a:t>
            </a:r>
          </a:p>
        </p:txBody>
      </p:sp>
      <p:sp>
        <p:nvSpPr>
          <p:cNvPr id="7" name="TextBox 6"/>
          <p:cNvSpPr txBox="1"/>
          <p:nvPr/>
        </p:nvSpPr>
        <p:spPr>
          <a:xfrm>
            <a:off x="2926080" y="2926080"/>
            <a:ext cx="548640" cy="457200"/>
          </a:xfrm>
          <a:prstGeom prst="rect">
            <a:avLst/>
          </a:prstGeom>
          <a:noFill/>
        </p:spPr>
        <p:txBody>
          <a:bodyPr wrap="square">
            <a:spAutoFit/>
          </a:bodyPr>
          <a:lstStyle/>
          <a:p>
            <a:pPr algn="ctr">
              <a:defRPr sz="2800" b="1">
                <a:solidFill>
                  <a:srgbClr val="D4A537"/>
                </a:solidFill>
                <a:latin typeface="Calibri"/>
              </a:defRPr>
            </a:pPr>
            <a:r>
              <a:t>→</a:t>
            </a:r>
          </a:p>
        </p:txBody>
      </p:sp>
      <p:sp>
        <p:nvSpPr>
          <p:cNvPr id="8" name="Rounded Rectangle 7"/>
          <p:cNvSpPr/>
          <p:nvPr/>
        </p:nvSpPr>
        <p:spPr>
          <a:xfrm>
            <a:off x="3474720" y="2468880"/>
            <a:ext cx="2377440" cy="13716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4A537"/>
                </a:solidFill>
                <a:latin typeface="Calibri"/>
              </a:defRPr>
            </a:pPr>
            <a:r>
              <a:t>Eddie's</a:t>
            </a:r>
            <a:br/>
            <a:r>
              <a:t>Creative Mode</a:t>
            </a:r>
          </a:p>
        </p:txBody>
      </p:sp>
      <p:sp>
        <p:nvSpPr>
          <p:cNvPr id="9" name="TextBox 8"/>
          <p:cNvSpPr txBox="1"/>
          <p:nvPr/>
        </p:nvSpPr>
        <p:spPr>
          <a:xfrm>
            <a:off x="3474720" y="3931920"/>
            <a:ext cx="2377440" cy="731520"/>
          </a:xfrm>
          <a:prstGeom prst="rect">
            <a:avLst/>
          </a:prstGeom>
          <a:noFill/>
        </p:spPr>
        <p:txBody>
          <a:bodyPr wrap="square">
            <a:spAutoFit/>
          </a:bodyPr>
          <a:lstStyle/>
          <a:p>
            <a:pPr algn="ctr">
              <a:defRPr sz="1200" b="0">
                <a:solidFill>
                  <a:srgbClr val="6B6B6B"/>
                </a:solidFill>
                <a:latin typeface="Calibri"/>
              </a:defRPr>
            </a:pPr>
            <a:r>
              <a:t>Professional judgment</a:t>
            </a:r>
            <a:br/>
            <a:r>
              <a:t>guides the AI</a:t>
            </a:r>
          </a:p>
        </p:txBody>
      </p:sp>
      <p:sp>
        <p:nvSpPr>
          <p:cNvPr id="10" name="TextBox 9"/>
          <p:cNvSpPr txBox="1"/>
          <p:nvPr/>
        </p:nvSpPr>
        <p:spPr>
          <a:xfrm>
            <a:off x="5852160" y="2926080"/>
            <a:ext cx="548640" cy="457200"/>
          </a:xfrm>
          <a:prstGeom prst="rect">
            <a:avLst/>
          </a:prstGeom>
          <a:noFill/>
        </p:spPr>
        <p:txBody>
          <a:bodyPr wrap="square">
            <a:spAutoFit/>
          </a:bodyPr>
          <a:lstStyle/>
          <a:p>
            <a:pPr algn="ctr">
              <a:defRPr sz="2800" b="1">
                <a:solidFill>
                  <a:srgbClr val="D4A537"/>
                </a:solidFill>
                <a:latin typeface="Calibri"/>
              </a:defRPr>
            </a:pPr>
            <a:r>
              <a:t>→</a:t>
            </a:r>
          </a:p>
        </p:txBody>
      </p:sp>
      <p:sp>
        <p:nvSpPr>
          <p:cNvPr id="11" name="Rounded Rectangle 10"/>
          <p:cNvSpPr/>
          <p:nvPr/>
        </p:nvSpPr>
        <p:spPr>
          <a:xfrm>
            <a:off x="6400800" y="2468880"/>
            <a:ext cx="2377440" cy="13716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4A537"/>
                </a:solidFill>
                <a:latin typeface="Calibri"/>
              </a:defRPr>
            </a:pPr>
            <a:r>
              <a:t>AI Handles</a:t>
            </a:r>
            <a:br/>
            <a:r>
              <a:t>The Work</a:t>
            </a:r>
          </a:p>
        </p:txBody>
      </p:sp>
      <p:sp>
        <p:nvSpPr>
          <p:cNvPr id="12" name="TextBox 11"/>
          <p:cNvSpPr txBox="1"/>
          <p:nvPr/>
        </p:nvSpPr>
        <p:spPr>
          <a:xfrm>
            <a:off x="6400800" y="3931920"/>
            <a:ext cx="2377440" cy="731520"/>
          </a:xfrm>
          <a:prstGeom prst="rect">
            <a:avLst/>
          </a:prstGeom>
          <a:noFill/>
        </p:spPr>
        <p:txBody>
          <a:bodyPr wrap="square">
            <a:spAutoFit/>
          </a:bodyPr>
          <a:lstStyle/>
          <a:p>
            <a:pPr algn="ctr">
              <a:defRPr sz="1200" b="0">
                <a:solidFill>
                  <a:srgbClr val="6B6B6B"/>
                </a:solidFill>
                <a:latin typeface="Calibri"/>
              </a:defRPr>
            </a:pPr>
            <a:r>
              <a:t>Separation, mixing,</a:t>
            </a:r>
            <a:br/>
            <a:r>
              <a:t>mastering in &lt;60s</a:t>
            </a:r>
          </a:p>
        </p:txBody>
      </p:sp>
      <p:sp>
        <p:nvSpPr>
          <p:cNvPr id="13" name="TextBox 12"/>
          <p:cNvSpPr txBox="1"/>
          <p:nvPr/>
        </p:nvSpPr>
        <p:spPr>
          <a:xfrm>
            <a:off x="8778240" y="2926080"/>
            <a:ext cx="548640" cy="457200"/>
          </a:xfrm>
          <a:prstGeom prst="rect">
            <a:avLst/>
          </a:prstGeom>
          <a:noFill/>
        </p:spPr>
        <p:txBody>
          <a:bodyPr wrap="square">
            <a:spAutoFit/>
          </a:bodyPr>
          <a:lstStyle/>
          <a:p>
            <a:pPr algn="ctr">
              <a:defRPr sz="2800" b="1">
                <a:solidFill>
                  <a:srgbClr val="D4A537"/>
                </a:solidFill>
                <a:latin typeface="Calibri"/>
              </a:defRPr>
            </a:pPr>
            <a:r>
              <a:t>→</a:t>
            </a:r>
          </a:p>
        </p:txBody>
      </p:sp>
      <p:sp>
        <p:nvSpPr>
          <p:cNvPr id="14" name="Rounded Rectangle 13"/>
          <p:cNvSpPr/>
          <p:nvPr/>
        </p:nvSpPr>
        <p:spPr>
          <a:xfrm>
            <a:off x="9326880" y="2468880"/>
            <a:ext cx="2377440" cy="13716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4A537"/>
                </a:solidFill>
                <a:latin typeface="Calibri"/>
              </a:defRPr>
            </a:pPr>
            <a:r>
              <a:t>Download</a:t>
            </a:r>
            <a:br/>
            <a:r>
              <a:t>Pro Output</a:t>
            </a:r>
          </a:p>
        </p:txBody>
      </p:sp>
      <p:sp>
        <p:nvSpPr>
          <p:cNvPr id="15" name="TextBox 14"/>
          <p:cNvSpPr txBox="1"/>
          <p:nvPr/>
        </p:nvSpPr>
        <p:spPr>
          <a:xfrm>
            <a:off x="9326880" y="3931920"/>
            <a:ext cx="2377440" cy="731520"/>
          </a:xfrm>
          <a:prstGeom prst="rect">
            <a:avLst/>
          </a:prstGeom>
          <a:noFill/>
        </p:spPr>
        <p:txBody>
          <a:bodyPr wrap="square">
            <a:spAutoFit/>
          </a:bodyPr>
          <a:lstStyle/>
          <a:p>
            <a:pPr algn="ctr">
              <a:defRPr sz="1200" b="0">
                <a:solidFill>
                  <a:srgbClr val="6B6B6B"/>
                </a:solidFill>
                <a:latin typeface="Calibri"/>
              </a:defRPr>
            </a:pPr>
            <a:r>
              <a:t>Polished mix, stems,</a:t>
            </a:r>
            <a:br/>
            <a:r>
              <a:t>session metadata</a:t>
            </a:r>
          </a:p>
        </p:txBody>
      </p:sp>
      <p:sp>
        <p:nvSpPr>
          <p:cNvPr id="16" name="TextBox 15"/>
          <p:cNvSpPr txBox="1"/>
          <p:nvPr/>
        </p:nvSpPr>
        <p:spPr>
          <a:xfrm>
            <a:off x="731520" y="4937760"/>
            <a:ext cx="10058400" cy="1371600"/>
          </a:xfrm>
          <a:prstGeom prst="rect">
            <a:avLst/>
          </a:prstGeom>
          <a:noFill/>
        </p:spPr>
        <p:txBody>
          <a:bodyPr wrap="square">
            <a:spAutoFit/>
          </a:bodyPr>
          <a:lstStyle/>
          <a:p>
            <a:pPr algn="ctr">
              <a:defRPr sz="1600" b="0">
                <a:solidFill>
                  <a:srgbClr val="FFFFFF"/>
                </a:solidFill>
                <a:latin typeface="Calibri"/>
              </a:defRPr>
            </a:pPr>
            <a:r>
              <a:t>Key principle: the AI doesn't change your music. It doesn't add instruments.</a:t>
            </a:r>
            <a:br/>
            <a:r>
              <a:t>It takes what YOU created and makes it sound like a professional spent</a:t>
            </a:r>
            <a:br/>
            <a:r>
              <a:t>six hours on it. Your music. Eddie's ears. Nothing added. Everything elevated.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FOUR-TIER SERVICE MODEL</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554480"/>
            <a:ext cx="2651760" cy="32004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5" name="TextBox 4"/>
          <p:cNvSpPr txBox="1"/>
          <p:nvPr/>
        </p:nvSpPr>
        <p:spPr>
          <a:xfrm>
            <a:off x="640080" y="1645920"/>
            <a:ext cx="2286000" cy="457200"/>
          </a:xfrm>
          <a:prstGeom prst="rect">
            <a:avLst/>
          </a:prstGeom>
          <a:noFill/>
        </p:spPr>
        <p:txBody>
          <a:bodyPr wrap="square">
            <a:spAutoFit/>
          </a:bodyPr>
          <a:lstStyle/>
          <a:p>
            <a:pPr algn="ctr">
              <a:defRPr sz="2400" b="1">
                <a:solidFill>
                  <a:srgbClr val="D4A537"/>
                </a:solidFill>
                <a:latin typeface="Calibri"/>
              </a:defRPr>
            </a:pPr>
            <a:r>
              <a:t>HEAR IT</a:t>
            </a:r>
          </a:p>
        </p:txBody>
      </p:sp>
      <p:sp>
        <p:nvSpPr>
          <p:cNvPr id="6" name="TextBox 5"/>
          <p:cNvSpPr txBox="1"/>
          <p:nvPr/>
        </p:nvSpPr>
        <p:spPr>
          <a:xfrm>
            <a:off x="640080" y="2103120"/>
            <a:ext cx="2286000" cy="457200"/>
          </a:xfrm>
          <a:prstGeom prst="rect">
            <a:avLst/>
          </a:prstGeom>
          <a:noFill/>
        </p:spPr>
        <p:txBody>
          <a:bodyPr wrap="square">
            <a:spAutoFit/>
          </a:bodyPr>
          <a:lstStyle/>
          <a:p>
            <a:pPr algn="ctr">
              <a:defRPr sz="1800" b="1">
                <a:solidFill>
                  <a:srgbClr val="FFFFFF"/>
                </a:solidFill>
                <a:latin typeface="Calibri"/>
              </a:defRPr>
            </a:pPr>
            <a:r>
              <a:t>$29-49/mo</a:t>
            </a:r>
          </a:p>
        </p:txBody>
      </p:sp>
      <p:sp>
        <p:nvSpPr>
          <p:cNvPr id="7" name="TextBox 6"/>
          <p:cNvSpPr txBox="1"/>
          <p:nvPr/>
        </p:nvSpPr>
        <p:spPr>
          <a:xfrm>
            <a:off x="640080" y="2743200"/>
            <a:ext cx="2286000" cy="914400"/>
          </a:xfrm>
          <a:prstGeom prst="rect">
            <a:avLst/>
          </a:prstGeom>
          <a:noFill/>
        </p:spPr>
        <p:txBody>
          <a:bodyPr wrap="square">
            <a:spAutoFit/>
          </a:bodyPr>
          <a:lstStyle/>
          <a:p>
            <a:pPr algn="ctr">
              <a:defRPr sz="1400" b="0">
                <a:solidFill>
                  <a:srgbClr val="E0E0E0"/>
                </a:solidFill>
                <a:latin typeface="Calibri"/>
              </a:defRPr>
            </a:pPr>
            <a:r>
              <a:t>Upload rough idea</a:t>
            </a:r>
            <a:br/>
            <a:r>
              <a:t>Get it back polished</a:t>
            </a:r>
          </a:p>
        </p:txBody>
      </p:sp>
      <p:sp>
        <p:nvSpPr>
          <p:cNvPr id="8" name="TextBox 7"/>
          <p:cNvSpPr txBox="1"/>
          <p:nvPr/>
        </p:nvSpPr>
        <p:spPr>
          <a:xfrm>
            <a:off x="640080" y="3931920"/>
            <a:ext cx="2286000" cy="365760"/>
          </a:xfrm>
          <a:prstGeom prst="rect">
            <a:avLst/>
          </a:prstGeom>
          <a:noFill/>
        </p:spPr>
        <p:txBody>
          <a:bodyPr wrap="square">
            <a:spAutoFit/>
          </a:bodyPr>
          <a:lstStyle/>
          <a:p>
            <a:pPr algn="ctr">
              <a:defRPr sz="1300" b="1">
                <a:solidFill>
                  <a:srgbClr val="4DC96D"/>
                </a:solidFill>
                <a:latin typeface="Calibri"/>
              </a:defRPr>
            </a:pPr>
            <a:r>
              <a:t>MVP</a:t>
            </a:r>
          </a:p>
        </p:txBody>
      </p:sp>
      <p:sp>
        <p:nvSpPr>
          <p:cNvPr id="9" name="Rounded Rectangle 8"/>
          <p:cNvSpPr/>
          <p:nvPr/>
        </p:nvSpPr>
        <p:spPr>
          <a:xfrm>
            <a:off x="3337560" y="1554480"/>
            <a:ext cx="2651760" cy="32004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0" name="TextBox 9"/>
          <p:cNvSpPr txBox="1"/>
          <p:nvPr/>
        </p:nvSpPr>
        <p:spPr>
          <a:xfrm>
            <a:off x="3520440" y="1645920"/>
            <a:ext cx="2286000" cy="457200"/>
          </a:xfrm>
          <a:prstGeom prst="rect">
            <a:avLst/>
          </a:prstGeom>
          <a:noFill/>
        </p:spPr>
        <p:txBody>
          <a:bodyPr wrap="square">
            <a:spAutoFit/>
          </a:bodyPr>
          <a:lstStyle/>
          <a:p>
            <a:pPr algn="ctr">
              <a:defRPr sz="2400" b="1">
                <a:solidFill>
                  <a:srgbClr val="4A90D9"/>
                </a:solidFill>
                <a:latin typeface="Calibri"/>
              </a:defRPr>
            </a:pPr>
            <a:r>
              <a:t>BUILD IT</a:t>
            </a:r>
          </a:p>
        </p:txBody>
      </p:sp>
      <p:sp>
        <p:nvSpPr>
          <p:cNvPr id="11" name="TextBox 10"/>
          <p:cNvSpPr txBox="1"/>
          <p:nvPr/>
        </p:nvSpPr>
        <p:spPr>
          <a:xfrm>
            <a:off x="3520440" y="2103120"/>
            <a:ext cx="2286000" cy="457200"/>
          </a:xfrm>
          <a:prstGeom prst="rect">
            <a:avLst/>
          </a:prstGeom>
          <a:noFill/>
        </p:spPr>
        <p:txBody>
          <a:bodyPr wrap="square">
            <a:spAutoFit/>
          </a:bodyPr>
          <a:lstStyle/>
          <a:p>
            <a:pPr algn="ctr">
              <a:defRPr sz="1800" b="1">
                <a:solidFill>
                  <a:srgbClr val="FFFFFF"/>
                </a:solidFill>
                <a:latin typeface="Calibri"/>
              </a:defRPr>
            </a:pPr>
            <a:r>
              <a:t>$79-149/track</a:t>
            </a:r>
          </a:p>
        </p:txBody>
      </p:sp>
      <p:sp>
        <p:nvSpPr>
          <p:cNvPr id="12" name="TextBox 11"/>
          <p:cNvSpPr txBox="1"/>
          <p:nvPr/>
        </p:nvSpPr>
        <p:spPr>
          <a:xfrm>
            <a:off x="3520440" y="2743200"/>
            <a:ext cx="2286000" cy="914400"/>
          </a:xfrm>
          <a:prstGeom prst="rect">
            <a:avLst/>
          </a:prstGeom>
          <a:noFill/>
        </p:spPr>
        <p:txBody>
          <a:bodyPr wrap="square">
            <a:spAutoFit/>
          </a:bodyPr>
          <a:lstStyle/>
          <a:p>
            <a:pPr algn="ctr">
              <a:defRPr sz="1400" b="0">
                <a:solidFill>
                  <a:srgbClr val="E0E0E0"/>
                </a:solidFill>
                <a:latin typeface="Calibri"/>
              </a:defRPr>
            </a:pPr>
            <a:r>
              <a:t>Full AI arrangement</a:t>
            </a:r>
            <a:br/>
            <a:r>
              <a:t>with Session Players</a:t>
            </a:r>
          </a:p>
        </p:txBody>
      </p:sp>
      <p:sp>
        <p:nvSpPr>
          <p:cNvPr id="13" name="TextBox 12"/>
          <p:cNvSpPr txBox="1"/>
          <p:nvPr/>
        </p:nvSpPr>
        <p:spPr>
          <a:xfrm>
            <a:off x="3520440" y="3931920"/>
            <a:ext cx="2286000" cy="365760"/>
          </a:xfrm>
          <a:prstGeom prst="rect">
            <a:avLst/>
          </a:prstGeom>
          <a:noFill/>
        </p:spPr>
        <p:txBody>
          <a:bodyPr wrap="square">
            <a:spAutoFit/>
          </a:bodyPr>
          <a:lstStyle/>
          <a:p>
            <a:pPr algn="ctr">
              <a:defRPr sz="1300" b="1">
                <a:solidFill>
                  <a:srgbClr val="6B6B6B"/>
                </a:solidFill>
                <a:latin typeface="Calibri"/>
              </a:defRPr>
            </a:pPr>
            <a:r>
              <a:t>Phase 2</a:t>
            </a:r>
          </a:p>
        </p:txBody>
      </p:sp>
      <p:sp>
        <p:nvSpPr>
          <p:cNvPr id="14" name="Rounded Rectangle 13"/>
          <p:cNvSpPr/>
          <p:nvPr/>
        </p:nvSpPr>
        <p:spPr>
          <a:xfrm>
            <a:off x="6217920" y="1554480"/>
            <a:ext cx="2651760" cy="32004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5" name="TextBox 14"/>
          <p:cNvSpPr txBox="1"/>
          <p:nvPr/>
        </p:nvSpPr>
        <p:spPr>
          <a:xfrm>
            <a:off x="6400800" y="1645920"/>
            <a:ext cx="2286000" cy="457200"/>
          </a:xfrm>
          <a:prstGeom prst="rect">
            <a:avLst/>
          </a:prstGeom>
          <a:noFill/>
        </p:spPr>
        <p:txBody>
          <a:bodyPr wrap="square">
            <a:spAutoFit/>
          </a:bodyPr>
          <a:lstStyle/>
          <a:p>
            <a:pPr algn="ctr">
              <a:defRPr sz="2400" b="1">
                <a:solidFill>
                  <a:srgbClr val="4A90D9"/>
                </a:solidFill>
                <a:latin typeface="Calibri"/>
              </a:defRPr>
            </a:pPr>
            <a:r>
              <a:t>PLAY IT</a:t>
            </a:r>
          </a:p>
        </p:txBody>
      </p:sp>
      <p:sp>
        <p:nvSpPr>
          <p:cNvPr id="16" name="TextBox 15"/>
          <p:cNvSpPr txBox="1"/>
          <p:nvPr/>
        </p:nvSpPr>
        <p:spPr>
          <a:xfrm>
            <a:off x="6400800" y="2103120"/>
            <a:ext cx="2286000" cy="457200"/>
          </a:xfrm>
          <a:prstGeom prst="rect">
            <a:avLst/>
          </a:prstGeom>
          <a:noFill/>
        </p:spPr>
        <p:txBody>
          <a:bodyPr wrap="square">
            <a:spAutoFit/>
          </a:bodyPr>
          <a:lstStyle/>
          <a:p>
            <a:pPr algn="ctr">
              <a:defRPr sz="1800" b="1">
                <a:solidFill>
                  <a:srgbClr val="FFFFFF"/>
                </a:solidFill>
                <a:latin typeface="Calibri"/>
              </a:defRPr>
            </a:pPr>
            <a:r>
              <a:t>$299-999/project</a:t>
            </a:r>
          </a:p>
        </p:txBody>
      </p:sp>
      <p:sp>
        <p:nvSpPr>
          <p:cNvPr id="17" name="TextBox 16"/>
          <p:cNvSpPr txBox="1"/>
          <p:nvPr/>
        </p:nvSpPr>
        <p:spPr>
          <a:xfrm>
            <a:off x="6400800" y="2743200"/>
            <a:ext cx="2286000" cy="914400"/>
          </a:xfrm>
          <a:prstGeom prst="rect">
            <a:avLst/>
          </a:prstGeom>
          <a:noFill/>
        </p:spPr>
        <p:txBody>
          <a:bodyPr wrap="square">
            <a:spAutoFit/>
          </a:bodyPr>
          <a:lstStyle/>
          <a:p>
            <a:pPr algn="ctr">
              <a:defRPr sz="1400" b="0">
                <a:solidFill>
                  <a:srgbClr val="E0E0E0"/>
                </a:solidFill>
                <a:latin typeface="Calibri"/>
              </a:defRPr>
            </a:pPr>
            <a:r>
              <a:t>Stage-ready charts</a:t>
            </a:r>
            <a:br/>
            <a:r>
              <a:t>+ session musicians</a:t>
            </a:r>
          </a:p>
        </p:txBody>
      </p:sp>
      <p:sp>
        <p:nvSpPr>
          <p:cNvPr id="18" name="TextBox 17"/>
          <p:cNvSpPr txBox="1"/>
          <p:nvPr/>
        </p:nvSpPr>
        <p:spPr>
          <a:xfrm>
            <a:off x="6400800" y="3931920"/>
            <a:ext cx="2286000" cy="365760"/>
          </a:xfrm>
          <a:prstGeom prst="rect">
            <a:avLst/>
          </a:prstGeom>
          <a:noFill/>
        </p:spPr>
        <p:txBody>
          <a:bodyPr wrap="square">
            <a:spAutoFit/>
          </a:bodyPr>
          <a:lstStyle/>
          <a:p>
            <a:pPr algn="ctr">
              <a:defRPr sz="1300" b="1">
                <a:solidFill>
                  <a:srgbClr val="6B6B6B"/>
                </a:solidFill>
                <a:latin typeface="Calibri"/>
              </a:defRPr>
            </a:pPr>
            <a:r>
              <a:t>Phase 3</a:t>
            </a:r>
          </a:p>
        </p:txBody>
      </p:sp>
      <p:sp>
        <p:nvSpPr>
          <p:cNvPr id="19" name="Rounded Rectangle 18"/>
          <p:cNvSpPr/>
          <p:nvPr/>
        </p:nvSpPr>
        <p:spPr>
          <a:xfrm>
            <a:off x="9098280" y="1554480"/>
            <a:ext cx="2651760" cy="32004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20" name="TextBox 19"/>
          <p:cNvSpPr txBox="1"/>
          <p:nvPr/>
        </p:nvSpPr>
        <p:spPr>
          <a:xfrm>
            <a:off x="9281159" y="1645920"/>
            <a:ext cx="2286000" cy="457200"/>
          </a:xfrm>
          <a:prstGeom prst="rect">
            <a:avLst/>
          </a:prstGeom>
          <a:noFill/>
        </p:spPr>
        <p:txBody>
          <a:bodyPr wrap="square">
            <a:spAutoFit/>
          </a:bodyPr>
          <a:lstStyle/>
          <a:p>
            <a:pPr algn="ctr">
              <a:defRPr sz="2400" b="1">
                <a:solidFill>
                  <a:srgbClr val="D4A537"/>
                </a:solidFill>
                <a:latin typeface="Calibri"/>
              </a:defRPr>
            </a:pPr>
            <a:r>
              <a:t>GIFT IT</a:t>
            </a:r>
          </a:p>
        </p:txBody>
      </p:sp>
      <p:sp>
        <p:nvSpPr>
          <p:cNvPr id="21" name="TextBox 20"/>
          <p:cNvSpPr txBox="1"/>
          <p:nvPr/>
        </p:nvSpPr>
        <p:spPr>
          <a:xfrm>
            <a:off x="9281159" y="2103120"/>
            <a:ext cx="2286000" cy="457200"/>
          </a:xfrm>
          <a:prstGeom prst="rect">
            <a:avLst/>
          </a:prstGeom>
          <a:noFill/>
        </p:spPr>
        <p:txBody>
          <a:bodyPr wrap="square">
            <a:spAutoFit/>
          </a:bodyPr>
          <a:lstStyle/>
          <a:p>
            <a:pPr algn="ctr">
              <a:defRPr sz="1800" b="1">
                <a:solidFill>
                  <a:srgbClr val="FFFFFF"/>
                </a:solidFill>
                <a:latin typeface="Calibri"/>
              </a:defRPr>
            </a:pPr>
            <a:r>
              <a:t>$49-149/song</a:t>
            </a:r>
          </a:p>
        </p:txBody>
      </p:sp>
      <p:sp>
        <p:nvSpPr>
          <p:cNvPr id="22" name="TextBox 21"/>
          <p:cNvSpPr txBox="1"/>
          <p:nvPr/>
        </p:nvSpPr>
        <p:spPr>
          <a:xfrm>
            <a:off x="9281159" y="2743200"/>
            <a:ext cx="2286000" cy="914400"/>
          </a:xfrm>
          <a:prstGeom prst="rect">
            <a:avLst/>
          </a:prstGeom>
          <a:noFill/>
        </p:spPr>
        <p:txBody>
          <a:bodyPr wrap="square">
            <a:spAutoFit/>
          </a:bodyPr>
          <a:lstStyle/>
          <a:p>
            <a:pPr algn="ctr">
              <a:defRPr sz="1400" b="0">
                <a:solidFill>
                  <a:srgbClr val="E0E0E0"/>
                </a:solidFill>
                <a:latin typeface="Calibri"/>
              </a:defRPr>
            </a:pPr>
            <a:r>
              <a:t>Custom song from</a:t>
            </a:r>
            <a:br/>
            <a:r>
              <a:t>your story</a:t>
            </a:r>
          </a:p>
        </p:txBody>
      </p:sp>
      <p:sp>
        <p:nvSpPr>
          <p:cNvPr id="23" name="TextBox 22"/>
          <p:cNvSpPr txBox="1"/>
          <p:nvPr/>
        </p:nvSpPr>
        <p:spPr>
          <a:xfrm>
            <a:off x="9281159" y="3931920"/>
            <a:ext cx="2286000" cy="365760"/>
          </a:xfrm>
          <a:prstGeom prst="rect">
            <a:avLst/>
          </a:prstGeom>
          <a:noFill/>
        </p:spPr>
        <p:txBody>
          <a:bodyPr wrap="square">
            <a:spAutoFit/>
          </a:bodyPr>
          <a:lstStyle/>
          <a:p>
            <a:pPr algn="ctr">
              <a:defRPr sz="1300" b="1">
                <a:solidFill>
                  <a:srgbClr val="4DC96D"/>
                </a:solidFill>
                <a:latin typeface="Calibri"/>
              </a:defRPr>
            </a:pPr>
            <a:r>
              <a:t>MVP</a:t>
            </a:r>
          </a:p>
        </p:txBody>
      </p:sp>
      <p:sp>
        <p:nvSpPr>
          <p:cNvPr id="24" name="TextBox 23"/>
          <p:cNvSpPr txBox="1"/>
          <p:nvPr/>
        </p:nvSpPr>
        <p:spPr>
          <a:xfrm>
            <a:off x="731520" y="5029200"/>
            <a:ext cx="10058400" cy="457200"/>
          </a:xfrm>
          <a:prstGeom prst="rect">
            <a:avLst/>
          </a:prstGeom>
          <a:noFill/>
        </p:spPr>
        <p:txBody>
          <a:bodyPr wrap="square">
            <a:spAutoFit/>
          </a:bodyPr>
          <a:lstStyle/>
          <a:p>
            <a:pPr algn="ctr">
              <a:defRPr sz="1600" b="1">
                <a:solidFill>
                  <a:srgbClr val="D4A537"/>
                </a:solidFill>
                <a:latin typeface="Calibri"/>
              </a:defRPr>
            </a:pPr>
            <a:r>
              <a:t>LAND AND EXPAND: Each tier validates the next. Don't build ahead of demand.</a:t>
            </a:r>
          </a:p>
        </p:txBody>
      </p:sp>
      <p:sp>
        <p:nvSpPr>
          <p:cNvPr id="25" name="TextBox 24"/>
          <p:cNvSpPr txBox="1"/>
          <p:nvPr/>
        </p:nvSpPr>
        <p:spPr>
          <a:xfrm>
            <a:off x="1371600" y="5577840"/>
            <a:ext cx="9144000" cy="1097280"/>
          </a:xfrm>
          <a:prstGeom prst="rect">
            <a:avLst/>
          </a:prstGeom>
          <a:noFill/>
        </p:spPr>
        <p:txBody>
          <a:bodyPr wrap="square">
            <a:spAutoFit/>
          </a:bodyPr>
          <a:lstStyle/>
          <a:p>
            <a:pPr algn="l">
              <a:defRPr sz="1400" b="0">
                <a:solidFill>
                  <a:srgbClr val="E0E0E0"/>
                </a:solidFill>
                <a:latin typeface="Calibri"/>
              </a:defRPr>
            </a:pPr>
          </a:p>
          <a:p>
            <a:pPr algn="l">
              <a:spcBef>
                <a:spcPts val="600"/>
              </a:spcBef>
              <a:defRPr sz="1400" b="0">
                <a:solidFill>
                  <a:srgbClr val="E0E0E0"/>
                </a:solidFill>
                <a:latin typeface="Calibri"/>
              </a:defRPr>
            </a:pPr>
            <a:r>
              <a:t>Hear It users ask "I need drums and keys"  →  Build It</a:t>
            </a:r>
          </a:p>
          <a:p>
            <a:pPr algn="l">
              <a:spcBef>
                <a:spcPts val="600"/>
              </a:spcBef>
              <a:defRPr sz="1400" b="0">
                <a:solidFill>
                  <a:srgbClr val="E0E0E0"/>
                </a:solidFill>
                <a:latin typeface="Calibri"/>
              </a:defRPr>
            </a:pPr>
            <a:r>
              <a:t>Build It users ask "My band wants to play this live"  →  Play It</a:t>
            </a:r>
          </a:p>
          <a:p>
            <a:pPr algn="l">
              <a:spcBef>
                <a:spcPts val="600"/>
              </a:spcBef>
              <a:defRPr sz="1400" b="0">
                <a:solidFill>
                  <a:srgbClr val="E0E0E0"/>
                </a:solidFill>
                <a:latin typeface="Calibri"/>
              </a:defRPr>
            </a:pPr>
            <a:r>
              <a:t>Gift It runs as a separate brand — same engine, different front door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EMPTY QUADRANT</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ctr">
              <a:defRPr sz="2000" b="1">
                <a:solidFill>
                  <a:srgbClr val="FFFFFF"/>
                </a:solidFill>
                <a:latin typeface="Calibri"/>
              </a:defRPr>
            </a:pPr>
            <a:r>
              <a:t>No competitor occupies "Professional Quality + Human-Guided AI"</a:t>
            </a:r>
          </a:p>
        </p:txBody>
      </p:sp>
      <p:sp>
        <p:nvSpPr>
          <p:cNvPr id="5" name="Rounded Rectangle 4"/>
          <p:cNvSpPr/>
          <p:nvPr/>
        </p:nvSpPr>
        <p:spPr>
          <a:xfrm>
            <a:off x="1371600" y="2103120"/>
            <a:ext cx="9418320" cy="41148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6" name="TextBox 5"/>
          <p:cNvSpPr txBox="1"/>
          <p:nvPr/>
        </p:nvSpPr>
        <p:spPr>
          <a:xfrm>
            <a:off x="5029200" y="2194560"/>
            <a:ext cx="2743200" cy="365760"/>
          </a:xfrm>
          <a:prstGeom prst="rect">
            <a:avLst/>
          </a:prstGeom>
          <a:noFill/>
        </p:spPr>
        <p:txBody>
          <a:bodyPr wrap="square">
            <a:spAutoFit/>
          </a:bodyPr>
          <a:lstStyle/>
          <a:p>
            <a:pPr algn="ctr">
              <a:defRPr sz="1200" b="1">
                <a:solidFill>
                  <a:srgbClr val="6B6B6B"/>
                </a:solidFill>
                <a:latin typeface="Calibri"/>
              </a:defRPr>
            </a:pPr>
            <a:r>
              <a:t>PROFESSIONAL QUALITY</a:t>
            </a:r>
          </a:p>
        </p:txBody>
      </p:sp>
      <p:sp>
        <p:nvSpPr>
          <p:cNvPr id="7" name="TextBox 6"/>
          <p:cNvSpPr txBox="1"/>
          <p:nvPr/>
        </p:nvSpPr>
        <p:spPr>
          <a:xfrm>
            <a:off x="5029200" y="5760720"/>
            <a:ext cx="2743200" cy="365760"/>
          </a:xfrm>
          <a:prstGeom prst="rect">
            <a:avLst/>
          </a:prstGeom>
          <a:noFill/>
        </p:spPr>
        <p:txBody>
          <a:bodyPr wrap="square">
            <a:spAutoFit/>
          </a:bodyPr>
          <a:lstStyle/>
          <a:p>
            <a:pPr algn="ctr">
              <a:defRPr sz="1200" b="1">
                <a:solidFill>
                  <a:srgbClr val="6B6B6B"/>
                </a:solidFill>
                <a:latin typeface="Calibri"/>
              </a:defRPr>
            </a:pPr>
            <a:r>
              <a:t>CONSUMER / CASUAL</a:t>
            </a:r>
          </a:p>
        </p:txBody>
      </p:sp>
      <p:sp>
        <p:nvSpPr>
          <p:cNvPr id="8" name="TextBox 7"/>
          <p:cNvSpPr txBox="1"/>
          <p:nvPr/>
        </p:nvSpPr>
        <p:spPr>
          <a:xfrm>
            <a:off x="1463040" y="3840480"/>
            <a:ext cx="1828800" cy="365760"/>
          </a:xfrm>
          <a:prstGeom prst="rect">
            <a:avLst/>
          </a:prstGeom>
          <a:noFill/>
        </p:spPr>
        <p:txBody>
          <a:bodyPr wrap="square">
            <a:spAutoFit/>
          </a:bodyPr>
          <a:lstStyle/>
          <a:p>
            <a:pPr algn="ctr">
              <a:defRPr sz="1200" b="1">
                <a:solidFill>
                  <a:srgbClr val="6B6B6B"/>
                </a:solidFill>
                <a:latin typeface="Calibri"/>
              </a:defRPr>
            </a:pPr>
            <a:r>
              <a:t>AUTOMATED</a:t>
            </a:r>
          </a:p>
        </p:txBody>
      </p:sp>
      <p:sp>
        <p:nvSpPr>
          <p:cNvPr id="9" name="TextBox 8"/>
          <p:cNvSpPr txBox="1"/>
          <p:nvPr/>
        </p:nvSpPr>
        <p:spPr>
          <a:xfrm>
            <a:off x="9144000" y="3840480"/>
            <a:ext cx="1828800" cy="365760"/>
          </a:xfrm>
          <a:prstGeom prst="rect">
            <a:avLst/>
          </a:prstGeom>
          <a:noFill/>
        </p:spPr>
        <p:txBody>
          <a:bodyPr wrap="square">
            <a:spAutoFit/>
          </a:bodyPr>
          <a:lstStyle/>
          <a:p>
            <a:pPr algn="ctr">
              <a:defRPr sz="1200" b="1">
                <a:solidFill>
                  <a:srgbClr val="6B6B6B"/>
                </a:solidFill>
                <a:latin typeface="Calibri"/>
              </a:defRPr>
            </a:pPr>
            <a:r>
              <a:t>HUMAN-GUIDED</a:t>
            </a:r>
          </a:p>
        </p:txBody>
      </p:sp>
      <p:sp>
        <p:nvSpPr>
          <p:cNvPr id="10" name="TextBox 9"/>
          <p:cNvSpPr txBox="1"/>
          <p:nvPr/>
        </p:nvSpPr>
        <p:spPr>
          <a:xfrm>
            <a:off x="3200400" y="2560320"/>
            <a:ext cx="2286000" cy="365760"/>
          </a:xfrm>
          <a:prstGeom prst="rect">
            <a:avLst/>
          </a:prstGeom>
          <a:noFill/>
        </p:spPr>
        <p:txBody>
          <a:bodyPr wrap="square">
            <a:spAutoFit/>
          </a:bodyPr>
          <a:lstStyle/>
          <a:p>
            <a:pPr algn="l">
              <a:defRPr sz="1400" b="1">
                <a:solidFill>
                  <a:srgbClr val="4A90D9"/>
                </a:solidFill>
                <a:latin typeface="Calibri"/>
              </a:defRPr>
            </a:pPr>
            <a:r>
              <a:t>●  LANDR</a:t>
            </a:r>
          </a:p>
        </p:txBody>
      </p:sp>
      <p:sp>
        <p:nvSpPr>
          <p:cNvPr id="11" name="TextBox 10"/>
          <p:cNvSpPr txBox="1"/>
          <p:nvPr/>
        </p:nvSpPr>
        <p:spPr>
          <a:xfrm>
            <a:off x="2743200" y="4754880"/>
            <a:ext cx="1828800" cy="365760"/>
          </a:xfrm>
          <a:prstGeom prst="rect">
            <a:avLst/>
          </a:prstGeom>
          <a:noFill/>
        </p:spPr>
        <p:txBody>
          <a:bodyPr wrap="square">
            <a:spAutoFit/>
          </a:bodyPr>
          <a:lstStyle/>
          <a:p>
            <a:pPr algn="l">
              <a:defRPr sz="1400" b="1">
                <a:solidFill>
                  <a:srgbClr val="4A90D9"/>
                </a:solidFill>
                <a:latin typeface="Calibri"/>
              </a:defRPr>
            </a:pPr>
            <a:r>
              <a:t>●  Suno</a:t>
            </a:r>
          </a:p>
        </p:txBody>
      </p:sp>
      <p:sp>
        <p:nvSpPr>
          <p:cNvPr id="12" name="TextBox 11"/>
          <p:cNvSpPr txBox="1"/>
          <p:nvPr/>
        </p:nvSpPr>
        <p:spPr>
          <a:xfrm>
            <a:off x="2926080" y="5212080"/>
            <a:ext cx="1828800" cy="365760"/>
          </a:xfrm>
          <a:prstGeom prst="rect">
            <a:avLst/>
          </a:prstGeom>
          <a:noFill/>
        </p:spPr>
        <p:txBody>
          <a:bodyPr wrap="square">
            <a:spAutoFit/>
          </a:bodyPr>
          <a:lstStyle/>
          <a:p>
            <a:pPr algn="l">
              <a:defRPr sz="1400" b="1">
                <a:solidFill>
                  <a:srgbClr val="4A90D9"/>
                </a:solidFill>
                <a:latin typeface="Calibri"/>
              </a:defRPr>
            </a:pPr>
            <a:r>
              <a:t>●  Udio</a:t>
            </a:r>
          </a:p>
        </p:txBody>
      </p:sp>
      <p:sp>
        <p:nvSpPr>
          <p:cNvPr id="13" name="TextBox 12"/>
          <p:cNvSpPr txBox="1"/>
          <p:nvPr/>
        </p:nvSpPr>
        <p:spPr>
          <a:xfrm>
            <a:off x="3200400" y="4572000"/>
            <a:ext cx="1828800" cy="365760"/>
          </a:xfrm>
          <a:prstGeom prst="rect">
            <a:avLst/>
          </a:prstGeom>
          <a:noFill/>
        </p:spPr>
        <p:txBody>
          <a:bodyPr wrap="square">
            <a:spAutoFit/>
          </a:bodyPr>
          <a:lstStyle/>
          <a:p>
            <a:pPr algn="l">
              <a:defRPr sz="1400" b="1">
                <a:solidFill>
                  <a:srgbClr val="4A90D9"/>
                </a:solidFill>
                <a:latin typeface="Calibri"/>
              </a:defRPr>
            </a:pPr>
            <a:r>
              <a:t>●  Moises</a:t>
            </a:r>
          </a:p>
        </p:txBody>
      </p:sp>
      <p:sp>
        <p:nvSpPr>
          <p:cNvPr id="14" name="TextBox 13"/>
          <p:cNvSpPr txBox="1"/>
          <p:nvPr/>
        </p:nvSpPr>
        <p:spPr>
          <a:xfrm>
            <a:off x="8229600" y="5029200"/>
            <a:ext cx="2286000" cy="365760"/>
          </a:xfrm>
          <a:prstGeom prst="rect">
            <a:avLst/>
          </a:prstGeom>
          <a:noFill/>
        </p:spPr>
        <p:txBody>
          <a:bodyPr wrap="square">
            <a:spAutoFit/>
          </a:bodyPr>
          <a:lstStyle/>
          <a:p>
            <a:pPr algn="l">
              <a:defRPr sz="1400" b="1">
                <a:solidFill>
                  <a:srgbClr val="4A90D9"/>
                </a:solidFill>
                <a:latin typeface="Calibri"/>
              </a:defRPr>
            </a:pPr>
            <a:r>
              <a:t>●  Songfinch</a:t>
            </a:r>
          </a:p>
        </p:txBody>
      </p:sp>
      <p:sp>
        <p:nvSpPr>
          <p:cNvPr id="15" name="TextBox 14"/>
          <p:cNvSpPr txBox="1"/>
          <p:nvPr/>
        </p:nvSpPr>
        <p:spPr>
          <a:xfrm>
            <a:off x="8229600" y="2926080"/>
            <a:ext cx="2286000" cy="365760"/>
          </a:xfrm>
          <a:prstGeom prst="rect">
            <a:avLst/>
          </a:prstGeom>
          <a:noFill/>
        </p:spPr>
        <p:txBody>
          <a:bodyPr wrap="square">
            <a:spAutoFit/>
          </a:bodyPr>
          <a:lstStyle/>
          <a:p>
            <a:pPr algn="l">
              <a:defRPr sz="1400" b="1">
                <a:solidFill>
                  <a:srgbClr val="4A90D9"/>
                </a:solidFill>
                <a:latin typeface="Calibri"/>
              </a:defRPr>
            </a:pPr>
            <a:r>
              <a:t>●  SoundBetter</a:t>
            </a:r>
          </a:p>
        </p:txBody>
      </p:sp>
      <p:sp>
        <p:nvSpPr>
          <p:cNvPr id="16" name="Rounded Rectangle 15"/>
          <p:cNvSpPr/>
          <p:nvPr/>
        </p:nvSpPr>
        <p:spPr>
          <a:xfrm>
            <a:off x="6858000" y="2377440"/>
            <a:ext cx="2743200" cy="731520"/>
          </a:xfrm>
          <a:prstGeom prst="round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  MAJOR 72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COMPETITIVE LANDSCAPE</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228600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Capability</a:t>
            </a:r>
          </a:p>
        </p:txBody>
      </p:sp>
      <p:sp>
        <p:nvSpPr>
          <p:cNvPr id="5" name="Rounded Rectangle 4"/>
          <p:cNvSpPr/>
          <p:nvPr/>
        </p:nvSpPr>
        <p:spPr>
          <a:xfrm>
            <a:off x="3017520" y="1554480"/>
            <a:ext cx="150876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Suno</a:t>
            </a:r>
          </a:p>
        </p:txBody>
      </p:sp>
      <p:sp>
        <p:nvSpPr>
          <p:cNvPr id="6" name="Rounded Rectangle 5"/>
          <p:cNvSpPr/>
          <p:nvPr/>
        </p:nvSpPr>
        <p:spPr>
          <a:xfrm>
            <a:off x="4526279" y="1554480"/>
            <a:ext cx="150876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LANDR</a:t>
            </a:r>
          </a:p>
        </p:txBody>
      </p:sp>
      <p:sp>
        <p:nvSpPr>
          <p:cNvPr id="7" name="Rounded Rectangle 6"/>
          <p:cNvSpPr/>
          <p:nvPr/>
        </p:nvSpPr>
        <p:spPr>
          <a:xfrm>
            <a:off x="6035040" y="1554480"/>
            <a:ext cx="150876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Moises</a:t>
            </a:r>
          </a:p>
        </p:txBody>
      </p:sp>
      <p:sp>
        <p:nvSpPr>
          <p:cNvPr id="8" name="Rounded Rectangle 7"/>
          <p:cNvSpPr/>
          <p:nvPr/>
        </p:nvSpPr>
        <p:spPr>
          <a:xfrm>
            <a:off x="7543800" y="1554480"/>
            <a:ext cx="150876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SoundBetter</a:t>
            </a:r>
          </a:p>
        </p:txBody>
      </p:sp>
      <p:sp>
        <p:nvSpPr>
          <p:cNvPr id="9" name="Rounded Rectangle 8"/>
          <p:cNvSpPr/>
          <p:nvPr/>
        </p:nvSpPr>
        <p:spPr>
          <a:xfrm>
            <a:off x="9052559" y="1554480"/>
            <a:ext cx="1508760" cy="41148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Songfinch</a:t>
            </a:r>
          </a:p>
        </p:txBody>
      </p:sp>
      <p:sp>
        <p:nvSpPr>
          <p:cNvPr id="10" name="Rounded Rectangle 9"/>
          <p:cNvSpPr/>
          <p:nvPr/>
        </p:nvSpPr>
        <p:spPr>
          <a:xfrm>
            <a:off x="10561320" y="1554480"/>
            <a:ext cx="1508760" cy="411480"/>
          </a:xfrm>
          <a:prstGeom prst="roundRect">
            <a:avLst/>
          </a:prstGeom>
          <a:solidFill>
            <a:srgbClr val="3A30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4A537"/>
                </a:solidFill>
                <a:latin typeface="Calibri"/>
              </a:defRPr>
            </a:pPr>
            <a:r>
              <a:t>Major 72</a:t>
            </a:r>
          </a:p>
        </p:txBody>
      </p:sp>
      <p:sp>
        <p:nvSpPr>
          <p:cNvPr id="11" name="Rounded Rectangle 10"/>
          <p:cNvSpPr/>
          <p:nvPr/>
        </p:nvSpPr>
        <p:spPr>
          <a:xfrm>
            <a:off x="731520" y="2011680"/>
            <a:ext cx="228600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Upload idea → polished track</a:t>
            </a:r>
          </a:p>
        </p:txBody>
      </p:sp>
      <p:sp>
        <p:nvSpPr>
          <p:cNvPr id="12" name="Rounded Rectangle 11"/>
          <p:cNvSpPr/>
          <p:nvPr/>
        </p:nvSpPr>
        <p:spPr>
          <a:xfrm>
            <a:off x="3017520"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13" name="Rounded Rectangle 12"/>
          <p:cNvSpPr/>
          <p:nvPr/>
        </p:nvSpPr>
        <p:spPr>
          <a:xfrm>
            <a:off x="4526279"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14" name="Rounded Rectangle 13"/>
          <p:cNvSpPr/>
          <p:nvPr/>
        </p:nvSpPr>
        <p:spPr>
          <a:xfrm>
            <a:off x="6035040"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15" name="Rounded Rectangle 14"/>
          <p:cNvSpPr/>
          <p:nvPr/>
        </p:nvSpPr>
        <p:spPr>
          <a:xfrm>
            <a:off x="7543800"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16" name="Rounded Rectangle 15"/>
          <p:cNvSpPr/>
          <p:nvPr/>
        </p:nvSpPr>
        <p:spPr>
          <a:xfrm>
            <a:off x="9052559"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17" name="Rounded Rectangle 16"/>
          <p:cNvSpPr/>
          <p:nvPr/>
        </p:nvSpPr>
        <p:spPr>
          <a:xfrm>
            <a:off x="10561320" y="2011680"/>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18" name="Rounded Rectangle 17"/>
          <p:cNvSpPr/>
          <p:nvPr/>
        </p:nvSpPr>
        <p:spPr>
          <a:xfrm>
            <a:off x="731520" y="2487168"/>
            <a:ext cx="228600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Named producer taste profiles</a:t>
            </a:r>
          </a:p>
        </p:txBody>
      </p:sp>
      <p:sp>
        <p:nvSpPr>
          <p:cNvPr id="19" name="Rounded Rectangle 18"/>
          <p:cNvSpPr/>
          <p:nvPr/>
        </p:nvSpPr>
        <p:spPr>
          <a:xfrm>
            <a:off x="3017520"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0" name="Rounded Rectangle 19"/>
          <p:cNvSpPr/>
          <p:nvPr/>
        </p:nvSpPr>
        <p:spPr>
          <a:xfrm>
            <a:off x="4526279"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1" name="Rounded Rectangle 20"/>
          <p:cNvSpPr/>
          <p:nvPr/>
        </p:nvSpPr>
        <p:spPr>
          <a:xfrm>
            <a:off x="6035040"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2" name="Rounded Rectangle 21"/>
          <p:cNvSpPr/>
          <p:nvPr/>
        </p:nvSpPr>
        <p:spPr>
          <a:xfrm>
            <a:off x="7543800"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3" name="Rounded Rectangle 22"/>
          <p:cNvSpPr/>
          <p:nvPr/>
        </p:nvSpPr>
        <p:spPr>
          <a:xfrm>
            <a:off x="9052559"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4" name="Rounded Rectangle 23"/>
          <p:cNvSpPr/>
          <p:nvPr/>
        </p:nvSpPr>
        <p:spPr>
          <a:xfrm>
            <a:off x="10561320" y="2487168"/>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25" name="Rounded Rectangle 24"/>
          <p:cNvSpPr/>
          <p:nvPr/>
        </p:nvSpPr>
        <p:spPr>
          <a:xfrm>
            <a:off x="731520" y="2962656"/>
            <a:ext cx="228600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AI arrangement + human calibration</a:t>
            </a:r>
          </a:p>
        </p:txBody>
      </p:sp>
      <p:sp>
        <p:nvSpPr>
          <p:cNvPr id="26" name="Rounded Rectangle 25"/>
          <p:cNvSpPr/>
          <p:nvPr/>
        </p:nvSpPr>
        <p:spPr>
          <a:xfrm>
            <a:off x="3017520"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7" name="Rounded Rectangle 26"/>
          <p:cNvSpPr/>
          <p:nvPr/>
        </p:nvSpPr>
        <p:spPr>
          <a:xfrm>
            <a:off x="4526279"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8" name="Rounded Rectangle 27"/>
          <p:cNvSpPr/>
          <p:nvPr/>
        </p:nvSpPr>
        <p:spPr>
          <a:xfrm>
            <a:off x="6035040"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29" name="Rounded Rectangle 28"/>
          <p:cNvSpPr/>
          <p:nvPr/>
        </p:nvSpPr>
        <p:spPr>
          <a:xfrm>
            <a:off x="7543800"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0" name="Rounded Rectangle 29"/>
          <p:cNvSpPr/>
          <p:nvPr/>
        </p:nvSpPr>
        <p:spPr>
          <a:xfrm>
            <a:off x="9052559"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1" name="Rounded Rectangle 30"/>
          <p:cNvSpPr/>
          <p:nvPr/>
        </p:nvSpPr>
        <p:spPr>
          <a:xfrm>
            <a:off x="10561320" y="2962656"/>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32" name="Rounded Rectangle 31"/>
          <p:cNvSpPr/>
          <p:nvPr/>
        </p:nvSpPr>
        <p:spPr>
          <a:xfrm>
            <a:off x="731520" y="3438144"/>
            <a:ext cx="228600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Sheet music / live charts</a:t>
            </a:r>
          </a:p>
        </p:txBody>
      </p:sp>
      <p:sp>
        <p:nvSpPr>
          <p:cNvPr id="33" name="Rounded Rectangle 32"/>
          <p:cNvSpPr/>
          <p:nvPr/>
        </p:nvSpPr>
        <p:spPr>
          <a:xfrm>
            <a:off x="3017520"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4" name="Rounded Rectangle 33"/>
          <p:cNvSpPr/>
          <p:nvPr/>
        </p:nvSpPr>
        <p:spPr>
          <a:xfrm>
            <a:off x="4526279"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5" name="Rounded Rectangle 34"/>
          <p:cNvSpPr/>
          <p:nvPr/>
        </p:nvSpPr>
        <p:spPr>
          <a:xfrm>
            <a:off x="6035040"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6" name="Rounded Rectangle 35"/>
          <p:cNvSpPr/>
          <p:nvPr/>
        </p:nvSpPr>
        <p:spPr>
          <a:xfrm>
            <a:off x="7543800"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7" name="Rounded Rectangle 36"/>
          <p:cNvSpPr/>
          <p:nvPr/>
        </p:nvSpPr>
        <p:spPr>
          <a:xfrm>
            <a:off x="9052559"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38" name="Rounded Rectangle 37"/>
          <p:cNvSpPr/>
          <p:nvPr/>
        </p:nvSpPr>
        <p:spPr>
          <a:xfrm>
            <a:off x="10561320" y="3438144"/>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39" name="Rounded Rectangle 38"/>
          <p:cNvSpPr/>
          <p:nvPr/>
        </p:nvSpPr>
        <p:spPr>
          <a:xfrm>
            <a:off x="731520" y="3913632"/>
            <a:ext cx="228600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Session musician integration</a:t>
            </a:r>
          </a:p>
        </p:txBody>
      </p:sp>
      <p:sp>
        <p:nvSpPr>
          <p:cNvPr id="40" name="Rounded Rectangle 39"/>
          <p:cNvSpPr/>
          <p:nvPr/>
        </p:nvSpPr>
        <p:spPr>
          <a:xfrm>
            <a:off x="3017520"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41" name="Rounded Rectangle 40"/>
          <p:cNvSpPr/>
          <p:nvPr/>
        </p:nvSpPr>
        <p:spPr>
          <a:xfrm>
            <a:off x="4526279"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42" name="Rounded Rectangle 41"/>
          <p:cNvSpPr/>
          <p:nvPr/>
        </p:nvSpPr>
        <p:spPr>
          <a:xfrm>
            <a:off x="6035040"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43" name="Rounded Rectangle 42"/>
          <p:cNvSpPr/>
          <p:nvPr/>
        </p:nvSpPr>
        <p:spPr>
          <a:xfrm>
            <a:off x="7543800"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44" name="Rounded Rectangle 43"/>
          <p:cNvSpPr/>
          <p:nvPr/>
        </p:nvSpPr>
        <p:spPr>
          <a:xfrm>
            <a:off x="9052559"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45" name="Rounded Rectangle 44"/>
          <p:cNvSpPr/>
          <p:nvPr/>
        </p:nvSpPr>
        <p:spPr>
          <a:xfrm>
            <a:off x="10561320" y="3913632"/>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46" name="Rounded Rectangle 45"/>
          <p:cNvSpPr/>
          <p:nvPr/>
        </p:nvSpPr>
        <p:spPr>
          <a:xfrm>
            <a:off x="731520" y="4389120"/>
            <a:ext cx="228600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Consumer custom songs</a:t>
            </a:r>
          </a:p>
        </p:txBody>
      </p:sp>
      <p:sp>
        <p:nvSpPr>
          <p:cNvPr id="47" name="Rounded Rectangle 46"/>
          <p:cNvSpPr/>
          <p:nvPr/>
        </p:nvSpPr>
        <p:spPr>
          <a:xfrm>
            <a:off x="3017520"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t>Partial</a:t>
            </a:r>
          </a:p>
        </p:txBody>
      </p:sp>
      <p:sp>
        <p:nvSpPr>
          <p:cNvPr id="48" name="Rounded Rectangle 47"/>
          <p:cNvSpPr/>
          <p:nvPr/>
        </p:nvSpPr>
        <p:spPr>
          <a:xfrm>
            <a:off x="4526279"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49" name="Rounded Rectangle 48"/>
          <p:cNvSpPr/>
          <p:nvPr/>
        </p:nvSpPr>
        <p:spPr>
          <a:xfrm>
            <a:off x="6035040"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0" name="Rounded Rectangle 49"/>
          <p:cNvSpPr/>
          <p:nvPr/>
        </p:nvSpPr>
        <p:spPr>
          <a:xfrm>
            <a:off x="7543800"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1" name="Rounded Rectangle 50"/>
          <p:cNvSpPr/>
          <p:nvPr/>
        </p:nvSpPr>
        <p:spPr>
          <a:xfrm>
            <a:off x="9052559"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52" name="Rounded Rectangle 51"/>
          <p:cNvSpPr/>
          <p:nvPr/>
        </p:nvSpPr>
        <p:spPr>
          <a:xfrm>
            <a:off x="10561320" y="4389120"/>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53" name="Rounded Rectangle 52"/>
          <p:cNvSpPr/>
          <p:nvPr/>
        </p:nvSpPr>
        <p:spPr>
          <a:xfrm>
            <a:off x="731520" y="4864608"/>
            <a:ext cx="228600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Full lifecycle: idea → stage</a:t>
            </a:r>
          </a:p>
        </p:txBody>
      </p:sp>
      <p:sp>
        <p:nvSpPr>
          <p:cNvPr id="54" name="Rounded Rectangle 53"/>
          <p:cNvSpPr/>
          <p:nvPr/>
        </p:nvSpPr>
        <p:spPr>
          <a:xfrm>
            <a:off x="3017520"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5" name="Rounded Rectangle 54"/>
          <p:cNvSpPr/>
          <p:nvPr/>
        </p:nvSpPr>
        <p:spPr>
          <a:xfrm>
            <a:off x="4526279"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6" name="Rounded Rectangle 55"/>
          <p:cNvSpPr/>
          <p:nvPr/>
        </p:nvSpPr>
        <p:spPr>
          <a:xfrm>
            <a:off x="6035040"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7" name="Rounded Rectangle 56"/>
          <p:cNvSpPr/>
          <p:nvPr/>
        </p:nvSpPr>
        <p:spPr>
          <a:xfrm>
            <a:off x="7543800"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8" name="Rounded Rectangle 57"/>
          <p:cNvSpPr/>
          <p:nvPr/>
        </p:nvSpPr>
        <p:spPr>
          <a:xfrm>
            <a:off x="9052559"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59" name="Rounded Rectangle 58"/>
          <p:cNvSpPr/>
          <p:nvPr/>
        </p:nvSpPr>
        <p:spPr>
          <a:xfrm>
            <a:off x="10561320" y="4864608"/>
            <a:ext cx="1508760" cy="438912"/>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60" name="Rounded Rectangle 59"/>
          <p:cNvSpPr/>
          <p:nvPr/>
        </p:nvSpPr>
        <p:spPr>
          <a:xfrm>
            <a:off x="731520" y="5340096"/>
            <a:ext cx="228600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100" b="1">
                <a:solidFill>
                  <a:srgbClr val="FFFFFF"/>
                </a:solidFill>
                <a:latin typeface="Calibri"/>
              </a:defRPr>
            </a:pPr>
            <a:r>
              <a:t>Copyright-defensible output</a:t>
            </a:r>
          </a:p>
        </p:txBody>
      </p:sp>
      <p:sp>
        <p:nvSpPr>
          <p:cNvPr id="61" name="Rounded Rectangle 60"/>
          <p:cNvSpPr/>
          <p:nvPr/>
        </p:nvSpPr>
        <p:spPr>
          <a:xfrm>
            <a:off x="3017520"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E84D4D"/>
                </a:solidFill>
                <a:latin typeface="Calibri"/>
              </a:defRPr>
            </a:pPr>
            <a:r>
              <a:t>✗</a:t>
            </a:r>
          </a:p>
        </p:txBody>
      </p:sp>
      <p:sp>
        <p:nvSpPr>
          <p:cNvPr id="62" name="Rounded Rectangle 61"/>
          <p:cNvSpPr/>
          <p:nvPr/>
        </p:nvSpPr>
        <p:spPr>
          <a:xfrm>
            <a:off x="4526279"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t>N/A</a:t>
            </a:r>
          </a:p>
        </p:txBody>
      </p:sp>
      <p:sp>
        <p:nvSpPr>
          <p:cNvPr id="63" name="Rounded Rectangle 62"/>
          <p:cNvSpPr/>
          <p:nvPr/>
        </p:nvSpPr>
        <p:spPr>
          <a:xfrm>
            <a:off x="6035040"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t>N/A</a:t>
            </a:r>
          </a:p>
        </p:txBody>
      </p:sp>
      <p:sp>
        <p:nvSpPr>
          <p:cNvPr id="64" name="Rounded Rectangle 63"/>
          <p:cNvSpPr/>
          <p:nvPr/>
        </p:nvSpPr>
        <p:spPr>
          <a:xfrm>
            <a:off x="7543800"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t>N/A</a:t>
            </a:r>
          </a:p>
        </p:txBody>
      </p:sp>
      <p:sp>
        <p:nvSpPr>
          <p:cNvPr id="65" name="Rounded Rectangle 64"/>
          <p:cNvSpPr/>
          <p:nvPr/>
        </p:nvSpPr>
        <p:spPr>
          <a:xfrm>
            <a:off x="9052559"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
        <p:nvSpPr>
          <p:cNvPr id="66" name="Rounded Rectangle 65"/>
          <p:cNvSpPr/>
          <p:nvPr/>
        </p:nvSpPr>
        <p:spPr>
          <a:xfrm>
            <a:off x="10561320" y="5340096"/>
            <a:ext cx="1508760" cy="438912"/>
          </a:xfrm>
          <a:prstGeom prst="round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4DC96D"/>
                </a:solidFill>
                <a:latin typeface="Calibri"/>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"HEAR IT" MVP</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2000" b="1">
                <a:solidFill>
                  <a:srgbClr val="FFFFFF"/>
                </a:solidFill>
                <a:latin typeface="Calibri"/>
              </a:defRPr>
            </a:pPr>
            <a:r>
              <a:t>The user experience in 5 steps — under 2 minutes total</a:t>
            </a:r>
          </a:p>
        </p:txBody>
      </p:sp>
      <p:sp>
        <p:nvSpPr>
          <p:cNvPr id="5" name="Oval 4"/>
          <p:cNvSpPr/>
          <p:nvPr/>
        </p:nvSpPr>
        <p:spPr>
          <a:xfrm>
            <a:off x="365760" y="2194560"/>
            <a:ext cx="2103120" cy="64008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21212"/>
                </a:solidFill>
                <a:latin typeface="Calibri"/>
              </a:defRPr>
            </a:pPr>
            <a:r>
              <a:t>1</a:t>
            </a:r>
          </a:p>
        </p:txBody>
      </p:sp>
      <p:sp>
        <p:nvSpPr>
          <p:cNvPr id="6" name="TextBox 5"/>
          <p:cNvSpPr txBox="1"/>
          <p:nvPr/>
        </p:nvSpPr>
        <p:spPr>
          <a:xfrm>
            <a:off x="365760" y="3017520"/>
            <a:ext cx="2103120" cy="457200"/>
          </a:xfrm>
          <a:prstGeom prst="rect">
            <a:avLst/>
          </a:prstGeom>
          <a:noFill/>
        </p:spPr>
        <p:txBody>
          <a:bodyPr wrap="square">
            <a:spAutoFit/>
          </a:bodyPr>
          <a:lstStyle/>
          <a:p>
            <a:pPr algn="ctr">
              <a:defRPr sz="1800" b="1">
                <a:solidFill>
                  <a:srgbClr val="D4A537"/>
                </a:solidFill>
                <a:latin typeface="Calibri"/>
              </a:defRPr>
            </a:pPr>
            <a:r>
              <a:t>UPLOAD</a:t>
            </a:r>
          </a:p>
        </p:txBody>
      </p:sp>
      <p:sp>
        <p:nvSpPr>
          <p:cNvPr id="7" name="TextBox 6"/>
          <p:cNvSpPr txBox="1"/>
          <p:nvPr/>
        </p:nvSpPr>
        <p:spPr>
          <a:xfrm>
            <a:off x="365760" y="3566160"/>
            <a:ext cx="2103120" cy="1828800"/>
          </a:xfrm>
          <a:prstGeom prst="rect">
            <a:avLst/>
          </a:prstGeom>
          <a:noFill/>
        </p:spPr>
        <p:txBody>
          <a:bodyPr wrap="square">
            <a:spAutoFit/>
          </a:bodyPr>
          <a:lstStyle/>
          <a:p>
            <a:pPr algn="ctr">
              <a:defRPr sz="1300" b="0">
                <a:solidFill>
                  <a:srgbClr val="E0E0E0"/>
                </a:solidFill>
                <a:latin typeface="Calibri"/>
              </a:defRPr>
            </a:pPr>
            <a:r>
              <a:t>Drag and drop.</a:t>
            </a:r>
            <a:br/>
            <a:r>
              <a:t>No forms. No genre</a:t>
            </a:r>
            <a:br/>
            <a:r>
              <a:t>selection. System</a:t>
            </a:r>
            <a:br/>
            <a:r>
              <a:t>auto-detects everything.</a:t>
            </a:r>
          </a:p>
        </p:txBody>
      </p:sp>
      <p:sp>
        <p:nvSpPr>
          <p:cNvPr id="8" name="Oval 7"/>
          <p:cNvSpPr/>
          <p:nvPr/>
        </p:nvSpPr>
        <p:spPr>
          <a:xfrm>
            <a:off x="2697479" y="2194560"/>
            <a:ext cx="2103120" cy="64008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21212"/>
                </a:solidFill>
                <a:latin typeface="Calibri"/>
              </a:defRPr>
            </a:pPr>
            <a:r>
              <a:t>2</a:t>
            </a:r>
          </a:p>
        </p:txBody>
      </p:sp>
      <p:sp>
        <p:nvSpPr>
          <p:cNvPr id="9" name="TextBox 8"/>
          <p:cNvSpPr txBox="1"/>
          <p:nvPr/>
        </p:nvSpPr>
        <p:spPr>
          <a:xfrm>
            <a:off x="2697479" y="3017520"/>
            <a:ext cx="2103120" cy="457200"/>
          </a:xfrm>
          <a:prstGeom prst="rect">
            <a:avLst/>
          </a:prstGeom>
          <a:noFill/>
        </p:spPr>
        <p:txBody>
          <a:bodyPr wrap="square">
            <a:spAutoFit/>
          </a:bodyPr>
          <a:lstStyle/>
          <a:p>
            <a:pPr algn="ctr">
              <a:defRPr sz="1800" b="1">
                <a:solidFill>
                  <a:srgbClr val="D4A537"/>
                </a:solidFill>
                <a:latin typeface="Calibri"/>
              </a:defRPr>
            </a:pPr>
            <a:r>
              <a:t>CHOOSE</a:t>
            </a:r>
          </a:p>
        </p:txBody>
      </p:sp>
      <p:sp>
        <p:nvSpPr>
          <p:cNvPr id="10" name="TextBox 9"/>
          <p:cNvSpPr txBox="1"/>
          <p:nvPr/>
        </p:nvSpPr>
        <p:spPr>
          <a:xfrm>
            <a:off x="2697479" y="3566160"/>
            <a:ext cx="2103120" cy="1828800"/>
          </a:xfrm>
          <a:prstGeom prst="rect">
            <a:avLst/>
          </a:prstGeom>
          <a:noFill/>
        </p:spPr>
        <p:txBody>
          <a:bodyPr wrap="square">
            <a:spAutoFit/>
          </a:bodyPr>
          <a:lstStyle/>
          <a:p>
            <a:pPr algn="ctr">
              <a:defRPr sz="1300" b="0">
                <a:solidFill>
                  <a:srgbClr val="E0E0E0"/>
                </a:solidFill>
                <a:latin typeface="Calibri"/>
              </a:defRPr>
            </a:pPr>
            <a:r>
              <a:t>"Polish with Eddie's</a:t>
            </a:r>
            <a:br/>
            <a:r>
              <a:t>Signature Sound"</a:t>
            </a:r>
            <a:br/>
            <a:r>
              <a:t>One button.</a:t>
            </a:r>
            <a:br/>
            <a:r>
              <a:t>One decision.</a:t>
            </a:r>
          </a:p>
        </p:txBody>
      </p:sp>
      <p:sp>
        <p:nvSpPr>
          <p:cNvPr id="11" name="Oval 10"/>
          <p:cNvSpPr/>
          <p:nvPr/>
        </p:nvSpPr>
        <p:spPr>
          <a:xfrm>
            <a:off x="5029200" y="2194560"/>
            <a:ext cx="2103120" cy="64008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21212"/>
                </a:solidFill>
                <a:latin typeface="Calibri"/>
              </a:defRPr>
            </a:pPr>
            <a:r>
              <a:t>3</a:t>
            </a:r>
          </a:p>
        </p:txBody>
      </p:sp>
      <p:sp>
        <p:nvSpPr>
          <p:cNvPr id="12" name="TextBox 11"/>
          <p:cNvSpPr txBox="1"/>
          <p:nvPr/>
        </p:nvSpPr>
        <p:spPr>
          <a:xfrm>
            <a:off x="5029200" y="3017520"/>
            <a:ext cx="2103120" cy="457200"/>
          </a:xfrm>
          <a:prstGeom prst="rect">
            <a:avLst/>
          </a:prstGeom>
          <a:noFill/>
        </p:spPr>
        <p:txBody>
          <a:bodyPr wrap="square">
            <a:spAutoFit/>
          </a:bodyPr>
          <a:lstStyle/>
          <a:p>
            <a:pPr algn="ctr">
              <a:defRPr sz="1800" b="1">
                <a:solidFill>
                  <a:srgbClr val="D4A537"/>
                </a:solidFill>
                <a:latin typeface="Calibri"/>
              </a:defRPr>
            </a:pPr>
            <a:r>
              <a:t>WAIT</a:t>
            </a:r>
          </a:p>
        </p:txBody>
      </p:sp>
      <p:sp>
        <p:nvSpPr>
          <p:cNvPr id="13" name="TextBox 12"/>
          <p:cNvSpPr txBox="1"/>
          <p:nvPr/>
        </p:nvSpPr>
        <p:spPr>
          <a:xfrm>
            <a:off x="5029200" y="3566160"/>
            <a:ext cx="2103120" cy="1828800"/>
          </a:xfrm>
          <a:prstGeom prst="rect">
            <a:avLst/>
          </a:prstGeom>
          <a:noFill/>
        </p:spPr>
        <p:txBody>
          <a:bodyPr wrap="square">
            <a:spAutoFit/>
          </a:bodyPr>
          <a:lstStyle/>
          <a:p>
            <a:pPr algn="ctr">
              <a:defRPr sz="1300" b="0">
                <a:solidFill>
                  <a:srgbClr val="E0E0E0"/>
                </a:solidFill>
                <a:latin typeface="Calibri"/>
              </a:defRPr>
            </a:pPr>
            <a:r>
              <a:t>30-60 seconds.</a:t>
            </a:r>
            <a:br/>
            <a:r>
              <a:t>Show waveform being</a:t>
            </a:r>
            <a:br/>
            <a:r>
              <a:t>sculpted. What Eddie's</a:t>
            </a:r>
            <a:br/>
            <a:r>
              <a:t>mode is doing.</a:t>
            </a:r>
          </a:p>
        </p:txBody>
      </p:sp>
      <p:sp>
        <p:nvSpPr>
          <p:cNvPr id="14" name="Oval 13"/>
          <p:cNvSpPr/>
          <p:nvPr/>
        </p:nvSpPr>
        <p:spPr>
          <a:xfrm>
            <a:off x="7360919" y="2194560"/>
            <a:ext cx="2103120" cy="64008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21212"/>
                </a:solidFill>
                <a:latin typeface="Calibri"/>
              </a:defRPr>
            </a:pPr>
            <a:r>
              <a:t>4</a:t>
            </a:r>
          </a:p>
        </p:txBody>
      </p:sp>
      <p:sp>
        <p:nvSpPr>
          <p:cNvPr id="15" name="TextBox 14"/>
          <p:cNvSpPr txBox="1"/>
          <p:nvPr/>
        </p:nvSpPr>
        <p:spPr>
          <a:xfrm>
            <a:off x="7360919" y="3017520"/>
            <a:ext cx="2103120" cy="457200"/>
          </a:xfrm>
          <a:prstGeom prst="rect">
            <a:avLst/>
          </a:prstGeom>
          <a:noFill/>
        </p:spPr>
        <p:txBody>
          <a:bodyPr wrap="square">
            <a:spAutoFit/>
          </a:bodyPr>
          <a:lstStyle/>
          <a:p>
            <a:pPr algn="ctr">
              <a:defRPr sz="1800" b="1">
                <a:solidFill>
                  <a:srgbClr val="D4A537"/>
                </a:solidFill>
                <a:latin typeface="Calibri"/>
              </a:defRPr>
            </a:pPr>
            <a:r>
              <a:t>REVEAL</a:t>
            </a:r>
          </a:p>
        </p:txBody>
      </p:sp>
      <p:sp>
        <p:nvSpPr>
          <p:cNvPr id="16" name="TextBox 15"/>
          <p:cNvSpPr txBox="1"/>
          <p:nvPr/>
        </p:nvSpPr>
        <p:spPr>
          <a:xfrm>
            <a:off x="7360919" y="3566160"/>
            <a:ext cx="2103120" cy="1828800"/>
          </a:xfrm>
          <a:prstGeom prst="rect">
            <a:avLst/>
          </a:prstGeom>
          <a:noFill/>
        </p:spPr>
        <p:txBody>
          <a:bodyPr wrap="square">
            <a:spAutoFit/>
          </a:bodyPr>
          <a:lstStyle/>
          <a:p>
            <a:pPr algn="ctr">
              <a:defRPr sz="1300" b="0">
                <a:solidFill>
                  <a:srgbClr val="E0E0E0"/>
                </a:solidFill>
                <a:latin typeface="Calibri"/>
              </a:defRPr>
            </a:pPr>
            <a:r>
              <a:t>Split-screen</a:t>
            </a:r>
            <a:br/>
            <a:r>
              <a:t>before/after.</a:t>
            </a:r>
            <a:br/>
            <a:r>
              <a:t>One-click toggle.</a:t>
            </a:r>
            <a:br/>
            <a:r>
              <a:t>The "oh my god" moment.</a:t>
            </a:r>
          </a:p>
        </p:txBody>
      </p:sp>
      <p:sp>
        <p:nvSpPr>
          <p:cNvPr id="17" name="Oval 16"/>
          <p:cNvSpPr/>
          <p:nvPr/>
        </p:nvSpPr>
        <p:spPr>
          <a:xfrm>
            <a:off x="9692640" y="2194560"/>
            <a:ext cx="2103120" cy="64008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21212"/>
                </a:solidFill>
                <a:latin typeface="Calibri"/>
              </a:defRPr>
            </a:pPr>
            <a:r>
              <a:t>5</a:t>
            </a:r>
          </a:p>
        </p:txBody>
      </p:sp>
      <p:sp>
        <p:nvSpPr>
          <p:cNvPr id="18" name="TextBox 17"/>
          <p:cNvSpPr txBox="1"/>
          <p:nvPr/>
        </p:nvSpPr>
        <p:spPr>
          <a:xfrm>
            <a:off x="9692640" y="3017520"/>
            <a:ext cx="2103120" cy="457200"/>
          </a:xfrm>
          <a:prstGeom prst="rect">
            <a:avLst/>
          </a:prstGeom>
          <a:noFill/>
        </p:spPr>
        <p:txBody>
          <a:bodyPr wrap="square">
            <a:spAutoFit/>
          </a:bodyPr>
          <a:lstStyle/>
          <a:p>
            <a:pPr algn="ctr">
              <a:defRPr sz="1800" b="1">
                <a:solidFill>
                  <a:srgbClr val="D4A537"/>
                </a:solidFill>
                <a:latin typeface="Calibri"/>
              </a:defRPr>
            </a:pPr>
            <a:r>
              <a:t>DOWNLOAD</a:t>
            </a:r>
          </a:p>
        </p:txBody>
      </p:sp>
      <p:sp>
        <p:nvSpPr>
          <p:cNvPr id="19" name="TextBox 18"/>
          <p:cNvSpPr txBox="1"/>
          <p:nvPr/>
        </p:nvSpPr>
        <p:spPr>
          <a:xfrm>
            <a:off x="9692640" y="3566160"/>
            <a:ext cx="2103120" cy="1828800"/>
          </a:xfrm>
          <a:prstGeom prst="rect">
            <a:avLst/>
          </a:prstGeom>
          <a:noFill/>
        </p:spPr>
        <p:txBody>
          <a:bodyPr wrap="square">
            <a:spAutoFit/>
          </a:bodyPr>
          <a:lstStyle/>
          <a:p>
            <a:pPr algn="ctr">
              <a:defRPr sz="1300" b="0">
                <a:solidFill>
                  <a:srgbClr val="E0E0E0"/>
                </a:solidFill>
                <a:latin typeface="Calibri"/>
              </a:defRPr>
            </a:pPr>
            <a:r>
              <a:t>Polished mix +</a:t>
            </a:r>
            <a:br/>
            <a:r>
              <a:t>individual stems +</a:t>
            </a:r>
            <a:br/>
            <a:r>
              <a:t>session metadata.</a:t>
            </a:r>
            <a:br/>
            <a:r>
              <a:t>One zip. Done.</a:t>
            </a:r>
          </a:p>
        </p:txBody>
      </p:sp>
      <p:sp>
        <p:nvSpPr>
          <p:cNvPr id="20" name="Rounded Rectangle 19"/>
          <p:cNvSpPr/>
          <p:nvPr/>
        </p:nvSpPr>
        <p:spPr>
          <a:xfrm>
            <a:off x="1828800" y="5669280"/>
            <a:ext cx="8229600" cy="7315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D4A537"/>
                </a:solidFill>
                <a:latin typeface="Calibri"/>
              </a:defRPr>
            </a:pPr>
            <a:r>
              <a:t>The "wow" metric: if &gt;60% of first-time users download the polished version, the engine works.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BUSINESS MODEL</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
          </a:xfrm>
          <a:prstGeom prst="rect">
            <a:avLst/>
          </a:prstGeom>
          <a:noFill/>
        </p:spPr>
        <p:txBody>
          <a:bodyPr wrap="square">
            <a:spAutoFit/>
          </a:bodyPr>
          <a:lstStyle/>
          <a:p>
            <a:pPr algn="l">
              <a:defRPr sz="2200" b="1">
                <a:solidFill>
                  <a:srgbClr val="FFFFFF"/>
                </a:solidFill>
                <a:latin typeface="Calibri"/>
              </a:defRPr>
            </a:pPr>
            <a:r>
              <a:t>Revenue Streams</a:t>
            </a:r>
          </a:p>
        </p:txBody>
      </p:sp>
      <p:sp>
        <p:nvSpPr>
          <p:cNvPr id="5" name="Rounded Rectangle 4"/>
          <p:cNvSpPr/>
          <p:nvPr/>
        </p:nvSpPr>
        <p:spPr>
          <a:xfrm>
            <a:off x="731520" y="1920240"/>
            <a:ext cx="5029200" cy="502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6" name="TextBox 5"/>
          <p:cNvSpPr txBox="1"/>
          <p:nvPr/>
        </p:nvSpPr>
        <p:spPr>
          <a:xfrm>
            <a:off x="914400" y="1965960"/>
            <a:ext cx="2011680" cy="365760"/>
          </a:xfrm>
          <a:prstGeom prst="rect">
            <a:avLst/>
          </a:prstGeom>
          <a:noFill/>
        </p:spPr>
        <p:txBody>
          <a:bodyPr wrap="square">
            <a:spAutoFit/>
          </a:bodyPr>
          <a:lstStyle/>
          <a:p>
            <a:pPr algn="l">
              <a:defRPr sz="1400" b="1">
                <a:solidFill>
                  <a:srgbClr val="FFFFFF"/>
                </a:solidFill>
                <a:latin typeface="Calibri"/>
              </a:defRPr>
            </a:pPr>
            <a:r>
              <a:t>Hear It Subscriptions</a:t>
            </a:r>
          </a:p>
        </p:txBody>
      </p:sp>
      <p:sp>
        <p:nvSpPr>
          <p:cNvPr id="7" name="TextBox 6"/>
          <p:cNvSpPr txBox="1"/>
          <p:nvPr/>
        </p:nvSpPr>
        <p:spPr>
          <a:xfrm>
            <a:off x="2926080" y="1965960"/>
            <a:ext cx="1188720" cy="365760"/>
          </a:xfrm>
          <a:prstGeom prst="rect">
            <a:avLst/>
          </a:prstGeom>
          <a:noFill/>
        </p:spPr>
        <p:txBody>
          <a:bodyPr wrap="square">
            <a:spAutoFit/>
          </a:bodyPr>
          <a:lstStyle/>
          <a:p>
            <a:pPr algn="ctr">
              <a:defRPr sz="1400" b="1">
                <a:solidFill>
                  <a:srgbClr val="D4A537"/>
                </a:solidFill>
                <a:latin typeface="Calibri"/>
              </a:defRPr>
            </a:pPr>
            <a:r>
              <a:t>$29-49/mo</a:t>
            </a:r>
          </a:p>
        </p:txBody>
      </p:sp>
      <p:sp>
        <p:nvSpPr>
          <p:cNvPr id="8" name="TextBox 7"/>
          <p:cNvSpPr txBox="1"/>
          <p:nvPr/>
        </p:nvSpPr>
        <p:spPr>
          <a:xfrm>
            <a:off x="4206240" y="1965960"/>
            <a:ext cx="1554480" cy="365760"/>
          </a:xfrm>
          <a:prstGeom prst="rect">
            <a:avLst/>
          </a:prstGeom>
          <a:noFill/>
        </p:spPr>
        <p:txBody>
          <a:bodyPr wrap="square">
            <a:spAutoFit/>
          </a:bodyPr>
          <a:lstStyle/>
          <a:p>
            <a:pPr algn="l">
              <a:defRPr sz="1200" b="0">
                <a:solidFill>
                  <a:srgbClr val="6B6B6B"/>
                </a:solidFill>
                <a:latin typeface="Calibri"/>
              </a:defRPr>
            </a:pPr>
            <a:r>
              <a:t>Recurring, predictable</a:t>
            </a:r>
          </a:p>
        </p:txBody>
      </p:sp>
      <p:sp>
        <p:nvSpPr>
          <p:cNvPr id="9" name="Rounded Rectangle 8"/>
          <p:cNvSpPr/>
          <p:nvPr/>
        </p:nvSpPr>
        <p:spPr>
          <a:xfrm>
            <a:off x="731520" y="2514600"/>
            <a:ext cx="5029200" cy="502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0" name="TextBox 9"/>
          <p:cNvSpPr txBox="1"/>
          <p:nvPr/>
        </p:nvSpPr>
        <p:spPr>
          <a:xfrm>
            <a:off x="914400" y="2560320"/>
            <a:ext cx="2011680" cy="365760"/>
          </a:xfrm>
          <a:prstGeom prst="rect">
            <a:avLst/>
          </a:prstGeom>
          <a:noFill/>
        </p:spPr>
        <p:txBody>
          <a:bodyPr wrap="square">
            <a:spAutoFit/>
          </a:bodyPr>
          <a:lstStyle/>
          <a:p>
            <a:pPr algn="l">
              <a:defRPr sz="1400" b="1">
                <a:solidFill>
                  <a:srgbClr val="FFFFFF"/>
                </a:solidFill>
                <a:latin typeface="Calibri"/>
              </a:defRPr>
            </a:pPr>
            <a:r>
              <a:t>Gift It Transactions</a:t>
            </a:r>
          </a:p>
        </p:txBody>
      </p:sp>
      <p:sp>
        <p:nvSpPr>
          <p:cNvPr id="11" name="TextBox 10"/>
          <p:cNvSpPr txBox="1"/>
          <p:nvPr/>
        </p:nvSpPr>
        <p:spPr>
          <a:xfrm>
            <a:off x="2926080" y="2560320"/>
            <a:ext cx="1188720" cy="365760"/>
          </a:xfrm>
          <a:prstGeom prst="rect">
            <a:avLst/>
          </a:prstGeom>
          <a:noFill/>
        </p:spPr>
        <p:txBody>
          <a:bodyPr wrap="square">
            <a:spAutoFit/>
          </a:bodyPr>
          <a:lstStyle/>
          <a:p>
            <a:pPr algn="ctr">
              <a:defRPr sz="1400" b="1">
                <a:solidFill>
                  <a:srgbClr val="D4A537"/>
                </a:solidFill>
                <a:latin typeface="Calibri"/>
              </a:defRPr>
            </a:pPr>
            <a:r>
              <a:t>$49-149/song</a:t>
            </a:r>
          </a:p>
        </p:txBody>
      </p:sp>
      <p:sp>
        <p:nvSpPr>
          <p:cNvPr id="12" name="TextBox 11"/>
          <p:cNvSpPr txBox="1"/>
          <p:nvPr/>
        </p:nvSpPr>
        <p:spPr>
          <a:xfrm>
            <a:off x="4206240" y="2560320"/>
            <a:ext cx="1554480" cy="365760"/>
          </a:xfrm>
          <a:prstGeom prst="rect">
            <a:avLst/>
          </a:prstGeom>
          <a:noFill/>
        </p:spPr>
        <p:txBody>
          <a:bodyPr wrap="square">
            <a:spAutoFit/>
          </a:bodyPr>
          <a:lstStyle/>
          <a:p>
            <a:pPr algn="l">
              <a:defRPr sz="1200" b="0">
                <a:solidFill>
                  <a:srgbClr val="6B6B6B"/>
                </a:solidFill>
                <a:latin typeface="Calibri"/>
              </a:defRPr>
            </a:pPr>
            <a:r>
              <a:t>High AOV, viral growth</a:t>
            </a:r>
          </a:p>
        </p:txBody>
      </p:sp>
      <p:sp>
        <p:nvSpPr>
          <p:cNvPr id="13" name="Rounded Rectangle 12"/>
          <p:cNvSpPr/>
          <p:nvPr/>
        </p:nvSpPr>
        <p:spPr>
          <a:xfrm>
            <a:off x="731520" y="3108960"/>
            <a:ext cx="5029200" cy="502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4" name="TextBox 13"/>
          <p:cNvSpPr txBox="1"/>
          <p:nvPr/>
        </p:nvSpPr>
        <p:spPr>
          <a:xfrm>
            <a:off x="914400" y="3154680"/>
            <a:ext cx="2011680" cy="365760"/>
          </a:xfrm>
          <a:prstGeom prst="rect">
            <a:avLst/>
          </a:prstGeom>
          <a:noFill/>
        </p:spPr>
        <p:txBody>
          <a:bodyPr wrap="square">
            <a:spAutoFit/>
          </a:bodyPr>
          <a:lstStyle/>
          <a:p>
            <a:pPr algn="l">
              <a:defRPr sz="1400" b="1">
                <a:solidFill>
                  <a:srgbClr val="FFFFFF"/>
                </a:solidFill>
                <a:latin typeface="Calibri"/>
              </a:defRPr>
            </a:pPr>
            <a:r>
              <a:t>Build It (Phase 2)</a:t>
            </a:r>
          </a:p>
        </p:txBody>
      </p:sp>
      <p:sp>
        <p:nvSpPr>
          <p:cNvPr id="15" name="TextBox 14"/>
          <p:cNvSpPr txBox="1"/>
          <p:nvPr/>
        </p:nvSpPr>
        <p:spPr>
          <a:xfrm>
            <a:off x="2926080" y="3154680"/>
            <a:ext cx="1188720" cy="365760"/>
          </a:xfrm>
          <a:prstGeom prst="rect">
            <a:avLst/>
          </a:prstGeom>
          <a:noFill/>
        </p:spPr>
        <p:txBody>
          <a:bodyPr wrap="square">
            <a:spAutoFit/>
          </a:bodyPr>
          <a:lstStyle/>
          <a:p>
            <a:pPr algn="ctr">
              <a:defRPr sz="1400" b="1">
                <a:solidFill>
                  <a:srgbClr val="D4A537"/>
                </a:solidFill>
                <a:latin typeface="Calibri"/>
              </a:defRPr>
            </a:pPr>
            <a:r>
              <a:t>$79-149/track</a:t>
            </a:r>
          </a:p>
        </p:txBody>
      </p:sp>
      <p:sp>
        <p:nvSpPr>
          <p:cNvPr id="16" name="TextBox 15"/>
          <p:cNvSpPr txBox="1"/>
          <p:nvPr/>
        </p:nvSpPr>
        <p:spPr>
          <a:xfrm>
            <a:off x="4206240" y="3154680"/>
            <a:ext cx="1554480" cy="365760"/>
          </a:xfrm>
          <a:prstGeom prst="rect">
            <a:avLst/>
          </a:prstGeom>
          <a:noFill/>
        </p:spPr>
        <p:txBody>
          <a:bodyPr wrap="square">
            <a:spAutoFit/>
          </a:bodyPr>
          <a:lstStyle/>
          <a:p>
            <a:pPr algn="l">
              <a:defRPr sz="1200" b="0">
                <a:solidFill>
                  <a:srgbClr val="6B6B6B"/>
                </a:solidFill>
                <a:latin typeface="Calibri"/>
              </a:defRPr>
            </a:pPr>
            <a:r>
              <a:t>Per-project upsell</a:t>
            </a:r>
          </a:p>
        </p:txBody>
      </p:sp>
      <p:sp>
        <p:nvSpPr>
          <p:cNvPr id="17" name="Rounded Rectangle 16"/>
          <p:cNvSpPr/>
          <p:nvPr/>
        </p:nvSpPr>
        <p:spPr>
          <a:xfrm>
            <a:off x="731520" y="3703320"/>
            <a:ext cx="5029200" cy="5029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8" name="TextBox 17"/>
          <p:cNvSpPr txBox="1"/>
          <p:nvPr/>
        </p:nvSpPr>
        <p:spPr>
          <a:xfrm>
            <a:off x="914400" y="3749040"/>
            <a:ext cx="2011680" cy="365760"/>
          </a:xfrm>
          <a:prstGeom prst="rect">
            <a:avLst/>
          </a:prstGeom>
          <a:noFill/>
        </p:spPr>
        <p:txBody>
          <a:bodyPr wrap="square">
            <a:spAutoFit/>
          </a:bodyPr>
          <a:lstStyle/>
          <a:p>
            <a:pPr algn="l">
              <a:defRPr sz="1400" b="1">
                <a:solidFill>
                  <a:srgbClr val="FFFFFF"/>
                </a:solidFill>
                <a:latin typeface="Calibri"/>
              </a:defRPr>
            </a:pPr>
            <a:r>
              <a:t>Play It (Phase 3)</a:t>
            </a:r>
          </a:p>
        </p:txBody>
      </p:sp>
      <p:sp>
        <p:nvSpPr>
          <p:cNvPr id="19" name="TextBox 18"/>
          <p:cNvSpPr txBox="1"/>
          <p:nvPr/>
        </p:nvSpPr>
        <p:spPr>
          <a:xfrm>
            <a:off x="2926080" y="3749040"/>
            <a:ext cx="1188720" cy="365760"/>
          </a:xfrm>
          <a:prstGeom prst="rect">
            <a:avLst/>
          </a:prstGeom>
          <a:noFill/>
        </p:spPr>
        <p:txBody>
          <a:bodyPr wrap="square">
            <a:spAutoFit/>
          </a:bodyPr>
          <a:lstStyle/>
          <a:p>
            <a:pPr algn="ctr">
              <a:defRPr sz="1400" b="1">
                <a:solidFill>
                  <a:srgbClr val="D4A537"/>
                </a:solidFill>
                <a:latin typeface="Calibri"/>
              </a:defRPr>
            </a:pPr>
            <a:r>
              <a:t>$299-999/project</a:t>
            </a:r>
          </a:p>
        </p:txBody>
      </p:sp>
      <p:sp>
        <p:nvSpPr>
          <p:cNvPr id="20" name="TextBox 19"/>
          <p:cNvSpPr txBox="1"/>
          <p:nvPr/>
        </p:nvSpPr>
        <p:spPr>
          <a:xfrm>
            <a:off x="4206240" y="3749040"/>
            <a:ext cx="1554480" cy="365760"/>
          </a:xfrm>
          <a:prstGeom prst="rect">
            <a:avLst/>
          </a:prstGeom>
          <a:noFill/>
        </p:spPr>
        <p:txBody>
          <a:bodyPr wrap="square">
            <a:spAutoFit/>
          </a:bodyPr>
          <a:lstStyle/>
          <a:p>
            <a:pPr algn="l">
              <a:defRPr sz="1200" b="0">
                <a:solidFill>
                  <a:srgbClr val="6B6B6B"/>
                </a:solidFill>
                <a:latin typeface="Calibri"/>
              </a:defRPr>
            </a:pPr>
            <a:r>
              <a:t>Premium, high-margin</a:t>
            </a:r>
          </a:p>
        </p:txBody>
      </p:sp>
      <p:sp>
        <p:nvSpPr>
          <p:cNvPr id="21" name="TextBox 20"/>
          <p:cNvSpPr txBox="1"/>
          <p:nvPr/>
        </p:nvSpPr>
        <p:spPr>
          <a:xfrm>
            <a:off x="6583680" y="1371600"/>
            <a:ext cx="5029200" cy="457200"/>
          </a:xfrm>
          <a:prstGeom prst="rect">
            <a:avLst/>
          </a:prstGeom>
          <a:noFill/>
        </p:spPr>
        <p:txBody>
          <a:bodyPr wrap="square">
            <a:spAutoFit/>
          </a:bodyPr>
          <a:lstStyle/>
          <a:p>
            <a:pPr algn="l">
              <a:defRPr sz="2200" b="1">
                <a:solidFill>
                  <a:srgbClr val="FFFFFF"/>
                </a:solidFill>
                <a:latin typeface="Calibri"/>
              </a:defRPr>
            </a:pPr>
            <a:r>
              <a:t>Year 1 Targets</a:t>
            </a:r>
          </a:p>
        </p:txBody>
      </p:sp>
      <p:sp>
        <p:nvSpPr>
          <p:cNvPr id="22" name="Rounded Rectangle 21"/>
          <p:cNvSpPr/>
          <p:nvPr/>
        </p:nvSpPr>
        <p:spPr>
          <a:xfrm>
            <a:off x="6583680" y="192024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23" name="TextBox 22"/>
          <p:cNvSpPr txBox="1"/>
          <p:nvPr/>
        </p:nvSpPr>
        <p:spPr>
          <a:xfrm>
            <a:off x="6766560" y="1947672"/>
            <a:ext cx="2743200" cy="365760"/>
          </a:xfrm>
          <a:prstGeom prst="rect">
            <a:avLst/>
          </a:prstGeom>
          <a:noFill/>
        </p:spPr>
        <p:txBody>
          <a:bodyPr wrap="square">
            <a:spAutoFit/>
          </a:bodyPr>
          <a:lstStyle/>
          <a:p>
            <a:pPr algn="l">
              <a:defRPr sz="1300" b="0">
                <a:solidFill>
                  <a:srgbClr val="E0E0E0"/>
                </a:solidFill>
                <a:latin typeface="Calibri"/>
              </a:defRPr>
            </a:pPr>
            <a:r>
              <a:t>Hear It subscribers</a:t>
            </a:r>
          </a:p>
        </p:txBody>
      </p:sp>
      <p:sp>
        <p:nvSpPr>
          <p:cNvPr id="24" name="TextBox 23"/>
          <p:cNvSpPr txBox="1"/>
          <p:nvPr/>
        </p:nvSpPr>
        <p:spPr>
          <a:xfrm>
            <a:off x="9601200" y="1947672"/>
            <a:ext cx="1645920" cy="365760"/>
          </a:xfrm>
          <a:prstGeom prst="rect">
            <a:avLst/>
          </a:prstGeom>
          <a:noFill/>
        </p:spPr>
        <p:txBody>
          <a:bodyPr wrap="square">
            <a:spAutoFit/>
          </a:bodyPr>
          <a:lstStyle/>
          <a:p>
            <a:pPr algn="r">
              <a:defRPr sz="1400" b="1">
                <a:solidFill>
                  <a:srgbClr val="D4A537"/>
                </a:solidFill>
                <a:latin typeface="Calibri"/>
              </a:defRPr>
            </a:pPr>
            <a:r>
              <a:t>1,000</a:t>
            </a:r>
          </a:p>
        </p:txBody>
      </p:sp>
      <p:sp>
        <p:nvSpPr>
          <p:cNvPr id="25" name="Rounded Rectangle 24"/>
          <p:cNvSpPr/>
          <p:nvPr/>
        </p:nvSpPr>
        <p:spPr>
          <a:xfrm>
            <a:off x="6583680" y="242316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26" name="TextBox 25"/>
          <p:cNvSpPr txBox="1"/>
          <p:nvPr/>
        </p:nvSpPr>
        <p:spPr>
          <a:xfrm>
            <a:off x="6766560" y="2450592"/>
            <a:ext cx="2743200" cy="365760"/>
          </a:xfrm>
          <a:prstGeom prst="rect">
            <a:avLst/>
          </a:prstGeom>
          <a:noFill/>
        </p:spPr>
        <p:txBody>
          <a:bodyPr wrap="square">
            <a:spAutoFit/>
          </a:bodyPr>
          <a:lstStyle/>
          <a:p>
            <a:pPr algn="l">
              <a:defRPr sz="1300" b="0">
                <a:solidFill>
                  <a:srgbClr val="E0E0E0"/>
                </a:solidFill>
                <a:latin typeface="Calibri"/>
              </a:defRPr>
            </a:pPr>
            <a:r>
              <a:t>Gift It songs sold</a:t>
            </a:r>
          </a:p>
        </p:txBody>
      </p:sp>
      <p:sp>
        <p:nvSpPr>
          <p:cNvPr id="27" name="TextBox 26"/>
          <p:cNvSpPr txBox="1"/>
          <p:nvPr/>
        </p:nvSpPr>
        <p:spPr>
          <a:xfrm>
            <a:off x="9601200" y="2450592"/>
            <a:ext cx="1645920" cy="365760"/>
          </a:xfrm>
          <a:prstGeom prst="rect">
            <a:avLst/>
          </a:prstGeom>
          <a:noFill/>
        </p:spPr>
        <p:txBody>
          <a:bodyPr wrap="square">
            <a:spAutoFit/>
          </a:bodyPr>
          <a:lstStyle/>
          <a:p>
            <a:pPr algn="r">
              <a:defRPr sz="1400" b="1">
                <a:solidFill>
                  <a:srgbClr val="D4A537"/>
                </a:solidFill>
                <a:latin typeface="Calibri"/>
              </a:defRPr>
            </a:pPr>
            <a:r>
              <a:t>2,000</a:t>
            </a:r>
          </a:p>
        </p:txBody>
      </p:sp>
      <p:sp>
        <p:nvSpPr>
          <p:cNvPr id="28" name="Rounded Rectangle 27"/>
          <p:cNvSpPr/>
          <p:nvPr/>
        </p:nvSpPr>
        <p:spPr>
          <a:xfrm>
            <a:off x="6583680" y="292608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29" name="TextBox 28"/>
          <p:cNvSpPr txBox="1"/>
          <p:nvPr/>
        </p:nvSpPr>
        <p:spPr>
          <a:xfrm>
            <a:off x="6766560" y="2953512"/>
            <a:ext cx="2743200" cy="365760"/>
          </a:xfrm>
          <a:prstGeom prst="rect">
            <a:avLst/>
          </a:prstGeom>
          <a:noFill/>
        </p:spPr>
        <p:txBody>
          <a:bodyPr wrap="square">
            <a:spAutoFit/>
          </a:bodyPr>
          <a:lstStyle/>
          <a:p>
            <a:pPr algn="l">
              <a:defRPr sz="1300" b="0">
                <a:solidFill>
                  <a:srgbClr val="E0E0E0"/>
                </a:solidFill>
                <a:latin typeface="Calibri"/>
              </a:defRPr>
            </a:pPr>
            <a:r>
              <a:t>Combined ARR</a:t>
            </a:r>
          </a:p>
        </p:txBody>
      </p:sp>
      <p:sp>
        <p:nvSpPr>
          <p:cNvPr id="30" name="TextBox 29"/>
          <p:cNvSpPr txBox="1"/>
          <p:nvPr/>
        </p:nvSpPr>
        <p:spPr>
          <a:xfrm>
            <a:off x="9601200" y="2953512"/>
            <a:ext cx="1645920" cy="365760"/>
          </a:xfrm>
          <a:prstGeom prst="rect">
            <a:avLst/>
          </a:prstGeom>
          <a:noFill/>
        </p:spPr>
        <p:txBody>
          <a:bodyPr wrap="square">
            <a:spAutoFit/>
          </a:bodyPr>
          <a:lstStyle/>
          <a:p>
            <a:pPr algn="r">
              <a:defRPr sz="1400" b="1">
                <a:solidFill>
                  <a:srgbClr val="D4A537"/>
                </a:solidFill>
                <a:latin typeface="Calibri"/>
              </a:defRPr>
            </a:pPr>
            <a:r>
              <a:t>~$666K</a:t>
            </a:r>
          </a:p>
        </p:txBody>
      </p:sp>
      <p:sp>
        <p:nvSpPr>
          <p:cNvPr id="31" name="Rounded Rectangle 30"/>
          <p:cNvSpPr/>
          <p:nvPr/>
        </p:nvSpPr>
        <p:spPr>
          <a:xfrm>
            <a:off x="6583680" y="342900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32" name="TextBox 31"/>
          <p:cNvSpPr txBox="1"/>
          <p:nvPr/>
        </p:nvSpPr>
        <p:spPr>
          <a:xfrm>
            <a:off x="6766560" y="3456432"/>
            <a:ext cx="2743200" cy="365760"/>
          </a:xfrm>
          <a:prstGeom prst="rect">
            <a:avLst/>
          </a:prstGeom>
          <a:noFill/>
        </p:spPr>
        <p:txBody>
          <a:bodyPr wrap="square">
            <a:spAutoFit/>
          </a:bodyPr>
          <a:lstStyle/>
          <a:p>
            <a:pPr algn="l">
              <a:defRPr sz="1300" b="0">
                <a:solidFill>
                  <a:srgbClr val="E0E0E0"/>
                </a:solidFill>
                <a:latin typeface="Calibri"/>
              </a:defRPr>
            </a:pPr>
            <a:r>
              <a:t>Free-to-paid conversion</a:t>
            </a:r>
          </a:p>
        </p:txBody>
      </p:sp>
      <p:sp>
        <p:nvSpPr>
          <p:cNvPr id="33" name="TextBox 32"/>
          <p:cNvSpPr txBox="1"/>
          <p:nvPr/>
        </p:nvSpPr>
        <p:spPr>
          <a:xfrm>
            <a:off x="9601200" y="3456432"/>
            <a:ext cx="1645920" cy="365760"/>
          </a:xfrm>
          <a:prstGeom prst="rect">
            <a:avLst/>
          </a:prstGeom>
          <a:noFill/>
        </p:spPr>
        <p:txBody>
          <a:bodyPr wrap="square">
            <a:spAutoFit/>
          </a:bodyPr>
          <a:lstStyle/>
          <a:p>
            <a:pPr algn="r">
              <a:defRPr sz="1400" b="1">
                <a:solidFill>
                  <a:srgbClr val="D4A537"/>
                </a:solidFill>
                <a:latin typeface="Calibri"/>
              </a:defRPr>
            </a:pPr>
            <a:r>
              <a:t>&gt;5%</a:t>
            </a:r>
          </a:p>
        </p:txBody>
      </p:sp>
      <p:sp>
        <p:nvSpPr>
          <p:cNvPr id="34" name="Rounded Rectangle 33"/>
          <p:cNvSpPr/>
          <p:nvPr/>
        </p:nvSpPr>
        <p:spPr>
          <a:xfrm>
            <a:off x="6583680" y="393192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35" name="TextBox 34"/>
          <p:cNvSpPr txBox="1"/>
          <p:nvPr/>
        </p:nvSpPr>
        <p:spPr>
          <a:xfrm>
            <a:off x="6766560" y="3959352"/>
            <a:ext cx="2743200" cy="365760"/>
          </a:xfrm>
          <a:prstGeom prst="rect">
            <a:avLst/>
          </a:prstGeom>
          <a:noFill/>
        </p:spPr>
        <p:txBody>
          <a:bodyPr wrap="square">
            <a:spAutoFit/>
          </a:bodyPr>
          <a:lstStyle/>
          <a:p>
            <a:pPr algn="l">
              <a:defRPr sz="1300" b="0">
                <a:solidFill>
                  <a:srgbClr val="E0E0E0"/>
                </a:solidFill>
                <a:latin typeface="Calibri"/>
              </a:defRPr>
            </a:pPr>
            <a:r>
              <a:t>Monthly churn</a:t>
            </a:r>
          </a:p>
        </p:txBody>
      </p:sp>
      <p:sp>
        <p:nvSpPr>
          <p:cNvPr id="36" name="TextBox 35"/>
          <p:cNvSpPr txBox="1"/>
          <p:nvPr/>
        </p:nvSpPr>
        <p:spPr>
          <a:xfrm>
            <a:off x="9601200" y="3959352"/>
            <a:ext cx="1645920" cy="365760"/>
          </a:xfrm>
          <a:prstGeom prst="rect">
            <a:avLst/>
          </a:prstGeom>
          <a:noFill/>
        </p:spPr>
        <p:txBody>
          <a:bodyPr wrap="square">
            <a:spAutoFit/>
          </a:bodyPr>
          <a:lstStyle/>
          <a:p>
            <a:pPr algn="r">
              <a:defRPr sz="1400" b="1">
                <a:solidFill>
                  <a:srgbClr val="D4A537"/>
                </a:solidFill>
                <a:latin typeface="Calibri"/>
              </a:defRPr>
            </a:pPr>
            <a:r>
              <a:t>&lt;8%</a:t>
            </a:r>
          </a:p>
        </p:txBody>
      </p:sp>
      <p:sp>
        <p:nvSpPr>
          <p:cNvPr id="37" name="Rounded Rectangle 36"/>
          <p:cNvSpPr/>
          <p:nvPr/>
        </p:nvSpPr>
        <p:spPr>
          <a:xfrm>
            <a:off x="6583680" y="4434840"/>
            <a:ext cx="4846320" cy="438912"/>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38" name="TextBox 37"/>
          <p:cNvSpPr txBox="1"/>
          <p:nvPr/>
        </p:nvSpPr>
        <p:spPr>
          <a:xfrm>
            <a:off x="6766560" y="4462272"/>
            <a:ext cx="2743200" cy="365760"/>
          </a:xfrm>
          <a:prstGeom prst="rect">
            <a:avLst/>
          </a:prstGeom>
          <a:noFill/>
        </p:spPr>
        <p:txBody>
          <a:bodyPr wrap="square">
            <a:spAutoFit/>
          </a:bodyPr>
          <a:lstStyle/>
          <a:p>
            <a:pPr algn="l">
              <a:defRPr sz="1300" b="0">
                <a:solidFill>
                  <a:srgbClr val="E0E0E0"/>
                </a:solidFill>
                <a:latin typeface="Calibri"/>
              </a:defRPr>
            </a:pPr>
            <a:r>
              <a:t>Cost per track</a:t>
            </a:r>
          </a:p>
        </p:txBody>
      </p:sp>
      <p:sp>
        <p:nvSpPr>
          <p:cNvPr id="39" name="TextBox 38"/>
          <p:cNvSpPr txBox="1"/>
          <p:nvPr/>
        </p:nvSpPr>
        <p:spPr>
          <a:xfrm>
            <a:off x="9601200" y="4462272"/>
            <a:ext cx="1645920" cy="365760"/>
          </a:xfrm>
          <a:prstGeom prst="rect">
            <a:avLst/>
          </a:prstGeom>
          <a:noFill/>
        </p:spPr>
        <p:txBody>
          <a:bodyPr wrap="square">
            <a:spAutoFit/>
          </a:bodyPr>
          <a:lstStyle/>
          <a:p>
            <a:pPr algn="r">
              <a:defRPr sz="1400" b="1">
                <a:solidFill>
                  <a:srgbClr val="D4A537"/>
                </a:solidFill>
                <a:latin typeface="Calibri"/>
              </a:defRPr>
            </a:pPr>
            <a:r>
              <a:t>&lt;$0.50</a:t>
            </a:r>
          </a:p>
        </p:txBody>
      </p:sp>
      <p:sp>
        <p:nvSpPr>
          <p:cNvPr id="40" name="TextBox 39"/>
          <p:cNvSpPr txBox="1"/>
          <p:nvPr/>
        </p:nvSpPr>
        <p:spPr>
          <a:xfrm>
            <a:off x="731520" y="4754880"/>
            <a:ext cx="10515600" cy="457200"/>
          </a:xfrm>
          <a:prstGeom prst="rect">
            <a:avLst/>
          </a:prstGeom>
          <a:noFill/>
        </p:spPr>
        <p:txBody>
          <a:bodyPr wrap="square">
            <a:spAutoFit/>
          </a:bodyPr>
          <a:lstStyle/>
          <a:p>
            <a:pPr algn="l">
              <a:defRPr sz="1800" b="1">
                <a:solidFill>
                  <a:srgbClr val="D4A537"/>
                </a:solidFill>
                <a:latin typeface="Calibri"/>
              </a:defRPr>
            </a:pPr>
            <a:r>
              <a:t>FUTURE REVENUE LAYER: Producer Mode Marketplace</a:t>
            </a:r>
          </a:p>
        </p:txBody>
      </p:sp>
      <p:sp>
        <p:nvSpPr>
          <p:cNvPr id="41" name="TextBox 40"/>
          <p:cNvSpPr txBox="1"/>
          <p:nvPr/>
        </p:nvSpPr>
        <p:spPr>
          <a:xfrm>
            <a:off x="731520" y="5212080"/>
            <a:ext cx="10515600" cy="1371600"/>
          </a:xfrm>
          <a:prstGeom prst="rect">
            <a:avLst/>
          </a:prstGeom>
          <a:noFill/>
        </p:spPr>
        <p:txBody>
          <a:bodyPr wrap="square">
            <a:spAutoFit/>
          </a:bodyPr>
          <a:lstStyle/>
          <a:p>
            <a:pPr algn="l">
              <a:defRPr sz="1500" b="0">
                <a:solidFill>
                  <a:srgbClr val="E0E0E0"/>
                </a:solidFill>
                <a:latin typeface="Calibri"/>
              </a:defRPr>
            </a:pPr>
            <a:r>
              <a:t>Once Eddie's mode is proven, open the platform to other producers. Producers sell their unique "taste profiles" — a new category like sample packs or VST plugins. Major 72 takes a platform cut on every mode sold and every track processed through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DEFENSIBLE ADVANTAGES</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463040"/>
            <a:ext cx="54864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1</a:t>
            </a:r>
          </a:p>
        </p:txBody>
      </p:sp>
      <p:sp>
        <p:nvSpPr>
          <p:cNvPr id="5" name="TextBox 4"/>
          <p:cNvSpPr txBox="1"/>
          <p:nvPr/>
        </p:nvSpPr>
        <p:spPr>
          <a:xfrm>
            <a:off x="1463040" y="1417320"/>
            <a:ext cx="2743200" cy="365760"/>
          </a:xfrm>
          <a:prstGeom prst="rect">
            <a:avLst/>
          </a:prstGeom>
          <a:noFill/>
        </p:spPr>
        <p:txBody>
          <a:bodyPr wrap="square">
            <a:spAutoFit/>
          </a:bodyPr>
          <a:lstStyle/>
          <a:p>
            <a:pPr algn="l">
              <a:defRPr sz="1700" b="1">
                <a:solidFill>
                  <a:srgbClr val="D4A537"/>
                </a:solidFill>
                <a:latin typeface="Calibri"/>
              </a:defRPr>
            </a:pPr>
            <a:r>
              <a:t>The Empty Quadrant</a:t>
            </a:r>
          </a:p>
        </p:txBody>
      </p:sp>
      <p:sp>
        <p:nvSpPr>
          <p:cNvPr id="6" name="TextBox 5"/>
          <p:cNvSpPr txBox="1"/>
          <p:nvPr/>
        </p:nvSpPr>
        <p:spPr>
          <a:xfrm>
            <a:off x="1463040" y="1783080"/>
            <a:ext cx="9601200" cy="548640"/>
          </a:xfrm>
          <a:prstGeom prst="rect">
            <a:avLst/>
          </a:prstGeom>
          <a:noFill/>
        </p:spPr>
        <p:txBody>
          <a:bodyPr wrap="square">
            <a:spAutoFit/>
          </a:bodyPr>
          <a:lstStyle/>
          <a:p>
            <a:pPr algn="l">
              <a:defRPr sz="1300" b="0">
                <a:solidFill>
                  <a:srgbClr val="E0E0E0"/>
                </a:solidFill>
                <a:latin typeface="Calibri"/>
              </a:defRPr>
            </a:pPr>
            <a:r>
              <a:t>No competitor is both professional-grade AND human-guided. Suno is automated + consumer. LANDR is professional but finishing-only. We're first to this position.</a:t>
            </a:r>
          </a:p>
        </p:txBody>
      </p:sp>
      <p:sp>
        <p:nvSpPr>
          <p:cNvPr id="7" name="Oval 6"/>
          <p:cNvSpPr/>
          <p:nvPr/>
        </p:nvSpPr>
        <p:spPr>
          <a:xfrm>
            <a:off x="731520" y="2468880"/>
            <a:ext cx="54864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2</a:t>
            </a:r>
          </a:p>
        </p:txBody>
      </p:sp>
      <p:sp>
        <p:nvSpPr>
          <p:cNvPr id="8" name="TextBox 7"/>
          <p:cNvSpPr txBox="1"/>
          <p:nvPr/>
        </p:nvSpPr>
        <p:spPr>
          <a:xfrm>
            <a:off x="1463040" y="2423160"/>
            <a:ext cx="2743200" cy="365760"/>
          </a:xfrm>
          <a:prstGeom prst="rect">
            <a:avLst/>
          </a:prstGeom>
          <a:noFill/>
        </p:spPr>
        <p:txBody>
          <a:bodyPr wrap="square">
            <a:spAutoFit/>
          </a:bodyPr>
          <a:lstStyle/>
          <a:p>
            <a:pPr algn="l">
              <a:defRPr sz="1700" b="1">
                <a:solidFill>
                  <a:srgbClr val="D4A537"/>
                </a:solidFill>
                <a:latin typeface="Calibri"/>
              </a:defRPr>
            </a:pPr>
            <a:r>
              <a:t>Taste Can't Be Cloned</a:t>
            </a:r>
          </a:p>
        </p:txBody>
      </p:sp>
      <p:sp>
        <p:nvSpPr>
          <p:cNvPr id="9" name="TextBox 8"/>
          <p:cNvSpPr txBox="1"/>
          <p:nvPr/>
        </p:nvSpPr>
        <p:spPr>
          <a:xfrm>
            <a:off x="1463040" y="2788920"/>
            <a:ext cx="9601200" cy="548640"/>
          </a:xfrm>
          <a:prstGeom prst="rect">
            <a:avLst/>
          </a:prstGeom>
          <a:noFill/>
        </p:spPr>
        <p:txBody>
          <a:bodyPr wrap="square">
            <a:spAutoFit/>
          </a:bodyPr>
          <a:lstStyle/>
          <a:p>
            <a:pPr algn="l">
              <a:defRPr sz="1300" b="0">
                <a:solidFill>
                  <a:srgbClr val="E0E0E0"/>
                </a:solidFill>
                <a:latin typeface="Calibri"/>
              </a:defRPr>
            </a:pPr>
            <a:r>
              <a:t>Eddie's Creative Mode is built from continuous approve/reject calibration — not a preset. Competitors can copy features but can't replicate 20 years of aesthetic judgment.</a:t>
            </a:r>
          </a:p>
        </p:txBody>
      </p:sp>
      <p:sp>
        <p:nvSpPr>
          <p:cNvPr id="10" name="Oval 9"/>
          <p:cNvSpPr/>
          <p:nvPr/>
        </p:nvSpPr>
        <p:spPr>
          <a:xfrm>
            <a:off x="731520" y="3474720"/>
            <a:ext cx="54864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3</a:t>
            </a:r>
          </a:p>
        </p:txBody>
      </p:sp>
      <p:sp>
        <p:nvSpPr>
          <p:cNvPr id="11" name="TextBox 10"/>
          <p:cNvSpPr txBox="1"/>
          <p:nvPr/>
        </p:nvSpPr>
        <p:spPr>
          <a:xfrm>
            <a:off x="1463040" y="3429000"/>
            <a:ext cx="2743200" cy="365760"/>
          </a:xfrm>
          <a:prstGeom prst="rect">
            <a:avLst/>
          </a:prstGeom>
          <a:noFill/>
        </p:spPr>
        <p:txBody>
          <a:bodyPr wrap="square">
            <a:spAutoFit/>
          </a:bodyPr>
          <a:lstStyle/>
          <a:p>
            <a:pPr algn="l">
              <a:defRPr sz="1700" b="1">
                <a:solidFill>
                  <a:srgbClr val="D4A537"/>
                </a:solidFill>
                <a:latin typeface="Calibri"/>
              </a:defRPr>
            </a:pPr>
            <a:r>
              <a:t>Copyright by Design</a:t>
            </a:r>
          </a:p>
        </p:txBody>
      </p:sp>
      <p:sp>
        <p:nvSpPr>
          <p:cNvPr id="12" name="TextBox 11"/>
          <p:cNvSpPr txBox="1"/>
          <p:nvPr/>
        </p:nvSpPr>
        <p:spPr>
          <a:xfrm>
            <a:off x="1463040" y="3794760"/>
            <a:ext cx="9601200" cy="548640"/>
          </a:xfrm>
          <a:prstGeom prst="rect">
            <a:avLst/>
          </a:prstGeom>
          <a:noFill/>
        </p:spPr>
        <p:txBody>
          <a:bodyPr wrap="square">
            <a:spAutoFit/>
          </a:bodyPr>
          <a:lstStyle/>
          <a:p>
            <a:pPr algn="l">
              <a:defRPr sz="1300" b="0">
                <a:solidFill>
                  <a:srgbClr val="E0E0E0"/>
                </a:solidFill>
                <a:latin typeface="Calibri"/>
              </a:defRPr>
            </a:pPr>
            <a:r>
              <a:t>Users upload original material + make creative selections = copyrightable hybrid work. Unlike prompt-only generators whose output may be public domain.</a:t>
            </a:r>
          </a:p>
        </p:txBody>
      </p:sp>
      <p:sp>
        <p:nvSpPr>
          <p:cNvPr id="13" name="Oval 12"/>
          <p:cNvSpPr/>
          <p:nvPr/>
        </p:nvSpPr>
        <p:spPr>
          <a:xfrm>
            <a:off x="731520" y="4480560"/>
            <a:ext cx="54864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4</a:t>
            </a:r>
          </a:p>
        </p:txBody>
      </p:sp>
      <p:sp>
        <p:nvSpPr>
          <p:cNvPr id="14" name="TextBox 13"/>
          <p:cNvSpPr txBox="1"/>
          <p:nvPr/>
        </p:nvSpPr>
        <p:spPr>
          <a:xfrm>
            <a:off x="1463040" y="4434840"/>
            <a:ext cx="2743200" cy="365760"/>
          </a:xfrm>
          <a:prstGeom prst="rect">
            <a:avLst/>
          </a:prstGeom>
          <a:noFill/>
        </p:spPr>
        <p:txBody>
          <a:bodyPr wrap="square">
            <a:spAutoFit/>
          </a:bodyPr>
          <a:lstStyle/>
          <a:p>
            <a:pPr algn="l">
              <a:defRPr sz="1700" b="1">
                <a:solidFill>
                  <a:srgbClr val="D4A537"/>
                </a:solidFill>
                <a:latin typeface="Calibri"/>
              </a:defRPr>
            </a:pPr>
            <a:r>
              <a:t>The AI Slop Antidote</a:t>
            </a:r>
          </a:p>
        </p:txBody>
      </p:sp>
      <p:sp>
        <p:nvSpPr>
          <p:cNvPr id="15" name="TextBox 14"/>
          <p:cNvSpPr txBox="1"/>
          <p:nvPr/>
        </p:nvSpPr>
        <p:spPr>
          <a:xfrm>
            <a:off x="1463040" y="4800600"/>
            <a:ext cx="9601200" cy="548640"/>
          </a:xfrm>
          <a:prstGeom prst="rect">
            <a:avLst/>
          </a:prstGeom>
          <a:noFill/>
        </p:spPr>
        <p:txBody>
          <a:bodyPr wrap="square">
            <a:spAutoFit/>
          </a:bodyPr>
          <a:lstStyle/>
          <a:p>
            <a:pPr algn="l">
              <a:defRPr sz="1300" b="0">
                <a:solidFill>
                  <a:srgbClr val="E0E0E0"/>
                </a:solidFill>
                <a:latin typeface="Calibri"/>
              </a:defRPr>
            </a:pPr>
            <a:r>
              <a:t>In a market drowning in generic AI tracks, "Verified Professional Production" backed by a named producer becomes an increasingly valuable quality signal.</a:t>
            </a:r>
          </a:p>
        </p:txBody>
      </p:sp>
      <p:sp>
        <p:nvSpPr>
          <p:cNvPr id="16" name="Oval 15"/>
          <p:cNvSpPr/>
          <p:nvPr/>
        </p:nvSpPr>
        <p:spPr>
          <a:xfrm>
            <a:off x="731520" y="5486400"/>
            <a:ext cx="54864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21212"/>
                </a:solidFill>
                <a:latin typeface="Calibri"/>
              </a:defRPr>
            </a:pPr>
            <a:r>
              <a:t>5</a:t>
            </a:r>
          </a:p>
        </p:txBody>
      </p:sp>
      <p:sp>
        <p:nvSpPr>
          <p:cNvPr id="17" name="TextBox 16"/>
          <p:cNvSpPr txBox="1"/>
          <p:nvPr/>
        </p:nvSpPr>
        <p:spPr>
          <a:xfrm>
            <a:off x="1463040" y="5440680"/>
            <a:ext cx="2743200" cy="365760"/>
          </a:xfrm>
          <a:prstGeom prst="rect">
            <a:avLst/>
          </a:prstGeom>
          <a:noFill/>
        </p:spPr>
        <p:txBody>
          <a:bodyPr wrap="square">
            <a:spAutoFit/>
          </a:bodyPr>
          <a:lstStyle/>
          <a:p>
            <a:pPr algn="l">
              <a:defRPr sz="1700" b="1">
                <a:solidFill>
                  <a:srgbClr val="D4A537"/>
                </a:solidFill>
                <a:latin typeface="Calibri"/>
              </a:defRPr>
            </a:pPr>
            <a:r>
              <a:t>Network Effects (Phase 3+)</a:t>
            </a:r>
          </a:p>
        </p:txBody>
      </p:sp>
      <p:sp>
        <p:nvSpPr>
          <p:cNvPr id="18" name="TextBox 17"/>
          <p:cNvSpPr txBox="1"/>
          <p:nvPr/>
        </p:nvSpPr>
        <p:spPr>
          <a:xfrm>
            <a:off x="1463040" y="5806440"/>
            <a:ext cx="9601200" cy="548640"/>
          </a:xfrm>
          <a:prstGeom prst="rect">
            <a:avLst/>
          </a:prstGeom>
          <a:noFill/>
        </p:spPr>
        <p:txBody>
          <a:bodyPr wrap="square">
            <a:spAutoFit/>
          </a:bodyPr>
          <a:lstStyle/>
          <a:p>
            <a:pPr algn="l">
              <a:defRPr sz="1300" b="0">
                <a:solidFill>
                  <a:srgbClr val="E0E0E0"/>
                </a:solidFill>
                <a:latin typeface="Calibri"/>
              </a:defRPr>
            </a:pPr>
            <a:r>
              <a:t>Producer Mode Marketplace + Session Musician Network create two-sided platform effects. More producers = more modes = more users. More musicians = better live pipeline = more projects.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ROADMAP</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3474720" cy="48463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5" name="TextBox 4"/>
          <p:cNvSpPr txBox="1"/>
          <p:nvPr/>
        </p:nvSpPr>
        <p:spPr>
          <a:xfrm>
            <a:off x="731520" y="1463040"/>
            <a:ext cx="3108960" cy="365760"/>
          </a:xfrm>
          <a:prstGeom prst="rect">
            <a:avLst/>
          </a:prstGeom>
          <a:noFill/>
        </p:spPr>
        <p:txBody>
          <a:bodyPr wrap="square">
            <a:spAutoFit/>
          </a:bodyPr>
          <a:lstStyle/>
          <a:p>
            <a:pPr algn="ctr">
              <a:defRPr sz="1400" b="1">
                <a:solidFill>
                  <a:srgbClr val="D4A537"/>
                </a:solidFill>
                <a:latin typeface="Calibri"/>
              </a:defRPr>
            </a:pPr>
            <a:r>
              <a:t>PHASE 1</a:t>
            </a:r>
          </a:p>
        </p:txBody>
      </p:sp>
      <p:sp>
        <p:nvSpPr>
          <p:cNvPr id="6" name="TextBox 5"/>
          <p:cNvSpPr txBox="1"/>
          <p:nvPr/>
        </p:nvSpPr>
        <p:spPr>
          <a:xfrm>
            <a:off x="731520" y="1828800"/>
            <a:ext cx="3108960" cy="274320"/>
          </a:xfrm>
          <a:prstGeom prst="rect">
            <a:avLst/>
          </a:prstGeom>
          <a:noFill/>
        </p:spPr>
        <p:txBody>
          <a:bodyPr wrap="square">
            <a:spAutoFit/>
          </a:bodyPr>
          <a:lstStyle/>
          <a:p>
            <a:pPr algn="ctr">
              <a:defRPr sz="1200" b="0">
                <a:solidFill>
                  <a:srgbClr val="6B6B6B"/>
                </a:solidFill>
                <a:latin typeface="Calibri"/>
              </a:defRPr>
            </a:pPr>
            <a:r>
              <a:t>Months 1-6</a:t>
            </a:r>
          </a:p>
        </p:txBody>
      </p:sp>
      <p:sp>
        <p:nvSpPr>
          <p:cNvPr id="7" name="TextBox 6"/>
          <p:cNvSpPr txBox="1"/>
          <p:nvPr/>
        </p:nvSpPr>
        <p:spPr>
          <a:xfrm>
            <a:off x="731520" y="2194560"/>
            <a:ext cx="3108960" cy="365760"/>
          </a:xfrm>
          <a:prstGeom prst="rect">
            <a:avLst/>
          </a:prstGeom>
          <a:noFill/>
        </p:spPr>
        <p:txBody>
          <a:bodyPr wrap="square">
            <a:spAutoFit/>
          </a:bodyPr>
          <a:lstStyle/>
          <a:p>
            <a:pPr algn="ctr">
              <a:defRPr sz="1600" b="1">
                <a:solidFill>
                  <a:srgbClr val="FFFFFF"/>
                </a:solidFill>
                <a:latin typeface="Calibri"/>
              </a:defRPr>
            </a:pPr>
            <a:r>
              <a:t>PROVE THE THESIS</a:t>
            </a:r>
          </a:p>
        </p:txBody>
      </p:sp>
      <p:sp>
        <p:nvSpPr>
          <p:cNvPr id="8" name="TextBox 7"/>
          <p:cNvSpPr txBox="1"/>
          <p:nvPr/>
        </p:nvSpPr>
        <p:spPr>
          <a:xfrm>
            <a:off x="822959" y="2743200"/>
            <a:ext cx="2926080" cy="3200400"/>
          </a:xfrm>
          <a:prstGeom prst="rect">
            <a:avLst/>
          </a:prstGeom>
          <a:noFill/>
        </p:spPr>
        <p:txBody>
          <a:bodyPr wrap="square">
            <a:spAutoFit/>
          </a:bodyPr>
          <a:lstStyle/>
          <a:p>
            <a:pPr algn="l">
              <a:defRPr sz="1300" b="0">
                <a:solidFill>
                  <a:srgbClr val="E0E0E0"/>
                </a:solidFill>
                <a:latin typeface="Calibri"/>
              </a:defRPr>
            </a:pPr>
          </a:p>
          <a:p>
            <a:pPr algn="l">
              <a:spcBef>
                <a:spcPts val="600"/>
              </a:spcBef>
              <a:defRPr sz="1200" b="0">
                <a:solidFill>
                  <a:srgbClr val="E0E0E0"/>
                </a:solidFill>
                <a:latin typeface="Calibri"/>
              </a:defRPr>
            </a:pPr>
            <a:r>
              <a:t>•  Core engine: stem sep + mix + master</a:t>
            </a:r>
          </a:p>
          <a:p>
            <a:pPr algn="l">
              <a:spcBef>
                <a:spcPts val="600"/>
              </a:spcBef>
              <a:defRPr sz="1200" b="0">
                <a:solidFill>
                  <a:srgbClr val="E0E0E0"/>
                </a:solidFill>
                <a:latin typeface="Calibri"/>
              </a:defRPr>
            </a:pPr>
            <a:r>
              <a:t>•  Eddie Signature Creative Mode</a:t>
            </a:r>
          </a:p>
          <a:p>
            <a:pPr algn="l">
              <a:spcBef>
                <a:spcPts val="600"/>
              </a:spcBef>
              <a:defRPr sz="1200" b="0">
                <a:solidFill>
                  <a:srgbClr val="E0E0E0"/>
                </a:solidFill>
                <a:latin typeface="Calibri"/>
              </a:defRPr>
            </a:pPr>
            <a:r>
              <a:t>•  "Hear It" MVP launch</a:t>
            </a:r>
          </a:p>
          <a:p>
            <a:pPr algn="l">
              <a:spcBef>
                <a:spcPts val="600"/>
              </a:spcBef>
              <a:defRPr sz="1200" b="0">
                <a:solidFill>
                  <a:srgbClr val="E0E0E0"/>
                </a:solidFill>
                <a:latin typeface="Calibri"/>
              </a:defRPr>
            </a:pPr>
            <a:r>
              <a:t>•  "Gift It" consumer soft-launch</a:t>
            </a:r>
          </a:p>
          <a:p>
            <a:pPr algn="l">
              <a:spcBef>
                <a:spcPts val="600"/>
              </a:spcBef>
              <a:defRPr sz="1200" b="0">
                <a:solidFill>
                  <a:srgbClr val="E0E0E0"/>
                </a:solidFill>
                <a:latin typeface="Calibri"/>
              </a:defRPr>
            </a:pPr>
            <a:r>
              <a:t>•  YouTube before/after campaign</a:t>
            </a:r>
          </a:p>
          <a:p>
            <a:pPr algn="l">
              <a:spcBef>
                <a:spcPts val="600"/>
              </a:spcBef>
              <a:defRPr sz="1200" b="0">
                <a:solidFill>
                  <a:srgbClr val="E0E0E0"/>
                </a:solidFill>
                <a:latin typeface="Calibri"/>
              </a:defRPr>
            </a:pPr>
            <a:r>
              <a:t>•  Target: 1K subscribers, ~$466K ARR</a:t>
            </a:r>
          </a:p>
        </p:txBody>
      </p:sp>
      <p:sp>
        <p:nvSpPr>
          <p:cNvPr id="9" name="Rounded Rectangle 8"/>
          <p:cNvSpPr/>
          <p:nvPr/>
        </p:nvSpPr>
        <p:spPr>
          <a:xfrm>
            <a:off x="4343400" y="1371600"/>
            <a:ext cx="3474720" cy="48463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0" name="TextBox 9"/>
          <p:cNvSpPr txBox="1"/>
          <p:nvPr/>
        </p:nvSpPr>
        <p:spPr>
          <a:xfrm>
            <a:off x="4526280" y="1463040"/>
            <a:ext cx="3108960" cy="365760"/>
          </a:xfrm>
          <a:prstGeom prst="rect">
            <a:avLst/>
          </a:prstGeom>
          <a:noFill/>
        </p:spPr>
        <p:txBody>
          <a:bodyPr wrap="square">
            <a:spAutoFit/>
          </a:bodyPr>
          <a:lstStyle/>
          <a:p>
            <a:pPr algn="ctr">
              <a:defRPr sz="1400" b="1">
                <a:solidFill>
                  <a:srgbClr val="4A90D9"/>
                </a:solidFill>
                <a:latin typeface="Calibri"/>
              </a:defRPr>
            </a:pPr>
            <a:r>
              <a:t>PHASE 2</a:t>
            </a:r>
          </a:p>
        </p:txBody>
      </p:sp>
      <p:sp>
        <p:nvSpPr>
          <p:cNvPr id="11" name="TextBox 10"/>
          <p:cNvSpPr txBox="1"/>
          <p:nvPr/>
        </p:nvSpPr>
        <p:spPr>
          <a:xfrm>
            <a:off x="4526280" y="1828800"/>
            <a:ext cx="3108960" cy="274320"/>
          </a:xfrm>
          <a:prstGeom prst="rect">
            <a:avLst/>
          </a:prstGeom>
          <a:noFill/>
        </p:spPr>
        <p:txBody>
          <a:bodyPr wrap="square">
            <a:spAutoFit/>
          </a:bodyPr>
          <a:lstStyle/>
          <a:p>
            <a:pPr algn="ctr">
              <a:defRPr sz="1200" b="0">
                <a:solidFill>
                  <a:srgbClr val="6B6B6B"/>
                </a:solidFill>
                <a:latin typeface="Calibri"/>
              </a:defRPr>
            </a:pPr>
            <a:r>
              <a:t>Months 6-12</a:t>
            </a:r>
          </a:p>
        </p:txBody>
      </p:sp>
      <p:sp>
        <p:nvSpPr>
          <p:cNvPr id="12" name="TextBox 11"/>
          <p:cNvSpPr txBox="1"/>
          <p:nvPr/>
        </p:nvSpPr>
        <p:spPr>
          <a:xfrm>
            <a:off x="4526280" y="2194560"/>
            <a:ext cx="3108960" cy="365760"/>
          </a:xfrm>
          <a:prstGeom prst="rect">
            <a:avLst/>
          </a:prstGeom>
          <a:noFill/>
        </p:spPr>
        <p:txBody>
          <a:bodyPr wrap="square">
            <a:spAutoFit/>
          </a:bodyPr>
          <a:lstStyle/>
          <a:p>
            <a:pPr algn="ctr">
              <a:defRPr sz="1600" b="1">
                <a:solidFill>
                  <a:srgbClr val="FFFFFF"/>
                </a:solidFill>
                <a:latin typeface="Calibri"/>
              </a:defRPr>
            </a:pPr>
            <a:r>
              <a:t>EXPAND THE VALUE</a:t>
            </a:r>
          </a:p>
        </p:txBody>
      </p:sp>
      <p:sp>
        <p:nvSpPr>
          <p:cNvPr id="13" name="TextBox 12"/>
          <p:cNvSpPr txBox="1"/>
          <p:nvPr/>
        </p:nvSpPr>
        <p:spPr>
          <a:xfrm>
            <a:off x="4617720" y="2743200"/>
            <a:ext cx="2926080" cy="3200400"/>
          </a:xfrm>
          <a:prstGeom prst="rect">
            <a:avLst/>
          </a:prstGeom>
          <a:noFill/>
        </p:spPr>
        <p:txBody>
          <a:bodyPr wrap="square">
            <a:spAutoFit/>
          </a:bodyPr>
          <a:lstStyle/>
          <a:p>
            <a:pPr algn="l">
              <a:defRPr sz="1300" b="0">
                <a:solidFill>
                  <a:srgbClr val="E0E0E0"/>
                </a:solidFill>
                <a:latin typeface="Calibri"/>
              </a:defRPr>
            </a:pPr>
          </a:p>
          <a:p>
            <a:pPr algn="l">
              <a:spcBef>
                <a:spcPts val="600"/>
              </a:spcBef>
              <a:defRPr sz="1200" b="0">
                <a:solidFill>
                  <a:srgbClr val="E0E0E0"/>
                </a:solidFill>
                <a:latin typeface="Calibri"/>
              </a:defRPr>
            </a:pPr>
            <a:r>
              <a:t>•  3-4 additional Creative Modes</a:t>
            </a:r>
          </a:p>
          <a:p>
            <a:pPr algn="l">
              <a:spcBef>
                <a:spcPts val="600"/>
              </a:spcBef>
              <a:defRPr sz="1200" b="0">
                <a:solidFill>
                  <a:srgbClr val="E0E0E0"/>
                </a:solidFill>
                <a:latin typeface="Calibri"/>
              </a:defRPr>
            </a:pPr>
            <a:r>
              <a:t>•  Session Players (AI arrangement)</a:t>
            </a:r>
          </a:p>
          <a:p>
            <a:pPr algn="l">
              <a:spcBef>
                <a:spcPts val="600"/>
              </a:spcBef>
              <a:defRPr sz="1200" b="0">
                <a:solidFill>
                  <a:srgbClr val="E0E0E0"/>
                </a:solidFill>
                <a:latin typeface="Calibri"/>
              </a:defRPr>
            </a:pPr>
            <a:r>
              <a:t>•  "Build It" launch</a:t>
            </a:r>
          </a:p>
          <a:p>
            <a:pPr algn="l">
              <a:spcBef>
                <a:spcPts val="600"/>
              </a:spcBef>
              <a:defRPr sz="1200" b="0">
                <a:solidFill>
                  <a:srgbClr val="E0E0E0"/>
                </a:solidFill>
                <a:latin typeface="Calibri"/>
              </a:defRPr>
            </a:pPr>
            <a:r>
              <a:t>•  Score generation / live charts</a:t>
            </a:r>
          </a:p>
          <a:p>
            <a:pPr algn="l">
              <a:spcBef>
                <a:spcPts val="600"/>
              </a:spcBef>
              <a:defRPr sz="1200" b="0">
                <a:solidFill>
                  <a:srgbClr val="E0E0E0"/>
                </a:solidFill>
                <a:latin typeface="Calibri"/>
              </a:defRPr>
            </a:pPr>
            <a:r>
              <a:t>•  Target: $1-2M ARR</a:t>
            </a:r>
          </a:p>
        </p:txBody>
      </p:sp>
      <p:sp>
        <p:nvSpPr>
          <p:cNvPr id="14" name="Rounded Rectangle 13"/>
          <p:cNvSpPr/>
          <p:nvPr/>
        </p:nvSpPr>
        <p:spPr>
          <a:xfrm>
            <a:off x="8138160" y="1371600"/>
            <a:ext cx="3474720" cy="484632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15" name="TextBox 14"/>
          <p:cNvSpPr txBox="1"/>
          <p:nvPr/>
        </p:nvSpPr>
        <p:spPr>
          <a:xfrm>
            <a:off x="8321040" y="1463040"/>
            <a:ext cx="3108960" cy="365760"/>
          </a:xfrm>
          <a:prstGeom prst="rect">
            <a:avLst/>
          </a:prstGeom>
          <a:noFill/>
        </p:spPr>
        <p:txBody>
          <a:bodyPr wrap="square">
            <a:spAutoFit/>
          </a:bodyPr>
          <a:lstStyle/>
          <a:p>
            <a:pPr algn="ctr">
              <a:defRPr sz="1400" b="1">
                <a:solidFill>
                  <a:srgbClr val="4A90D9"/>
                </a:solidFill>
                <a:latin typeface="Calibri"/>
              </a:defRPr>
            </a:pPr>
            <a:r>
              <a:t>PHASE 3</a:t>
            </a:r>
          </a:p>
        </p:txBody>
      </p:sp>
      <p:sp>
        <p:nvSpPr>
          <p:cNvPr id="16" name="TextBox 15"/>
          <p:cNvSpPr txBox="1"/>
          <p:nvPr/>
        </p:nvSpPr>
        <p:spPr>
          <a:xfrm>
            <a:off x="8321040" y="1828800"/>
            <a:ext cx="3108960" cy="274320"/>
          </a:xfrm>
          <a:prstGeom prst="rect">
            <a:avLst/>
          </a:prstGeom>
          <a:noFill/>
        </p:spPr>
        <p:txBody>
          <a:bodyPr wrap="square">
            <a:spAutoFit/>
          </a:bodyPr>
          <a:lstStyle/>
          <a:p>
            <a:pPr algn="ctr">
              <a:defRPr sz="1200" b="0">
                <a:solidFill>
                  <a:srgbClr val="6B6B6B"/>
                </a:solidFill>
                <a:latin typeface="Calibri"/>
              </a:defRPr>
            </a:pPr>
            <a:r>
              <a:t>Months 12-24</a:t>
            </a:r>
          </a:p>
        </p:txBody>
      </p:sp>
      <p:sp>
        <p:nvSpPr>
          <p:cNvPr id="17" name="TextBox 16"/>
          <p:cNvSpPr txBox="1"/>
          <p:nvPr/>
        </p:nvSpPr>
        <p:spPr>
          <a:xfrm>
            <a:off x="8321040" y="2194560"/>
            <a:ext cx="3108960" cy="365760"/>
          </a:xfrm>
          <a:prstGeom prst="rect">
            <a:avLst/>
          </a:prstGeom>
          <a:noFill/>
        </p:spPr>
        <p:txBody>
          <a:bodyPr wrap="square">
            <a:spAutoFit/>
          </a:bodyPr>
          <a:lstStyle/>
          <a:p>
            <a:pPr algn="ctr">
              <a:defRPr sz="1600" b="1">
                <a:solidFill>
                  <a:srgbClr val="FFFFFF"/>
                </a:solidFill>
                <a:latin typeface="Calibri"/>
              </a:defRPr>
            </a:pPr>
            <a:r>
              <a:t>BUILD THE NETWORK</a:t>
            </a:r>
          </a:p>
        </p:txBody>
      </p:sp>
      <p:sp>
        <p:nvSpPr>
          <p:cNvPr id="18" name="TextBox 17"/>
          <p:cNvSpPr txBox="1"/>
          <p:nvPr/>
        </p:nvSpPr>
        <p:spPr>
          <a:xfrm>
            <a:off x="8412480" y="2743200"/>
            <a:ext cx="2926080" cy="3200400"/>
          </a:xfrm>
          <a:prstGeom prst="rect">
            <a:avLst/>
          </a:prstGeom>
          <a:noFill/>
        </p:spPr>
        <p:txBody>
          <a:bodyPr wrap="square">
            <a:spAutoFit/>
          </a:bodyPr>
          <a:lstStyle/>
          <a:p>
            <a:pPr algn="l">
              <a:defRPr sz="1300" b="0">
                <a:solidFill>
                  <a:srgbClr val="E0E0E0"/>
                </a:solidFill>
                <a:latin typeface="Calibri"/>
              </a:defRPr>
            </a:pPr>
          </a:p>
          <a:p>
            <a:pPr algn="l">
              <a:spcBef>
                <a:spcPts val="600"/>
              </a:spcBef>
              <a:defRPr sz="1200" b="0">
                <a:solidFill>
                  <a:srgbClr val="E0E0E0"/>
                </a:solidFill>
                <a:latin typeface="Calibri"/>
              </a:defRPr>
            </a:pPr>
            <a:r>
              <a:t>•  "Play It" launch</a:t>
            </a:r>
          </a:p>
          <a:p>
            <a:pPr algn="l">
              <a:spcBef>
                <a:spcPts val="600"/>
              </a:spcBef>
              <a:defRPr sz="1200" b="0">
                <a:solidFill>
                  <a:srgbClr val="E0E0E0"/>
                </a:solidFill>
                <a:latin typeface="Calibri"/>
              </a:defRPr>
            </a:pPr>
            <a:r>
              <a:t>•  Session musician marketplace</a:t>
            </a:r>
          </a:p>
          <a:p>
            <a:pPr algn="l">
              <a:spcBef>
                <a:spcPts val="600"/>
              </a:spcBef>
              <a:defRPr sz="1200" b="0">
                <a:solidFill>
                  <a:srgbClr val="E0E0E0"/>
                </a:solidFill>
                <a:latin typeface="Calibri"/>
              </a:defRPr>
            </a:pPr>
            <a:r>
              <a:t>•  Producer Mode Marketplace (beta)</a:t>
            </a:r>
          </a:p>
          <a:p>
            <a:pPr algn="l">
              <a:spcBef>
                <a:spcPts val="600"/>
              </a:spcBef>
              <a:defRPr sz="1200" b="0">
                <a:solidFill>
                  <a:srgbClr val="E0E0E0"/>
                </a:solidFill>
                <a:latin typeface="Calibri"/>
              </a:defRPr>
            </a:pPr>
            <a:r>
              <a:t>•  Sync licensing features</a:t>
            </a:r>
          </a:p>
          <a:p>
            <a:pPr algn="l">
              <a:spcBef>
                <a:spcPts val="600"/>
              </a:spcBef>
              <a:defRPr sz="1200" b="0">
                <a:solidFill>
                  <a:srgbClr val="E0E0E0"/>
                </a:solidFill>
                <a:latin typeface="Calibri"/>
              </a:defRPr>
            </a:pPr>
            <a:r>
              <a:t>•  Target: $5M+ ARR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TEAM</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645920"/>
            <a:ext cx="9144000" cy="3200400"/>
          </a:xfrm>
          <a:prstGeom prst="round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p>
        </p:txBody>
      </p:sp>
      <p:sp>
        <p:nvSpPr>
          <p:cNvPr id="5" name="TextBox 4"/>
          <p:cNvSpPr txBox="1"/>
          <p:nvPr/>
        </p:nvSpPr>
        <p:spPr>
          <a:xfrm>
            <a:off x="1828800" y="1828800"/>
            <a:ext cx="8229600" cy="457200"/>
          </a:xfrm>
          <a:prstGeom prst="rect">
            <a:avLst/>
          </a:prstGeom>
          <a:noFill/>
        </p:spPr>
        <p:txBody>
          <a:bodyPr wrap="square">
            <a:spAutoFit/>
          </a:bodyPr>
          <a:lstStyle/>
          <a:p>
            <a:pPr algn="l">
              <a:defRPr sz="2400" b="1">
                <a:solidFill>
                  <a:srgbClr val="D4A537"/>
                </a:solidFill>
                <a:latin typeface="Calibri"/>
              </a:defRPr>
            </a:pPr>
            <a:r>
              <a:t>Eddie Wilson  —  Founder / Music Director</a:t>
            </a:r>
          </a:p>
        </p:txBody>
      </p:sp>
      <p:sp>
        <p:nvSpPr>
          <p:cNvPr id="6" name="TextBox 5"/>
          <p:cNvSpPr txBox="1"/>
          <p:nvPr/>
        </p:nvSpPr>
        <p:spPr>
          <a:xfrm>
            <a:off x="1828800" y="2377440"/>
            <a:ext cx="8229600" cy="2286000"/>
          </a:xfrm>
          <a:prstGeom prst="rect">
            <a:avLst/>
          </a:prstGeom>
          <a:noFill/>
        </p:spPr>
        <p:txBody>
          <a:bodyPr wrap="square">
            <a:spAutoFit/>
          </a:bodyPr>
          <a:lstStyle/>
          <a:p>
            <a:pPr algn="l">
              <a:defRPr sz="1400" b="0">
                <a:solidFill>
                  <a:srgbClr val="E0E0E0"/>
                </a:solidFill>
                <a:latin typeface="Calibri"/>
              </a:defRPr>
            </a:pPr>
            <a:r>
              <a:t>20+ years of studio and live music production experience. Eddie's role is not just advisory — his creative judgment IS the product. He defines the aesthetic boundaries of each Creative Mode, evaluates AI output, and calibrates the production parameters that make Major 72's output indistinguishable from manual professional work.</a:t>
            </a:r>
            <a:br/>
            <a:br/>
            <a:r>
              <a:t>As System Architect and Music Director, Eddie brings:</a:t>
            </a:r>
            <a:br/>
            <a:r>
              <a:t>•  Deep expertise in mixing, mastering, and arrangement across genres</a:t>
            </a:r>
            <a:br/>
            <a:r>
              <a:t>•  A philosophy of "tools that save time but allow human intervention"</a:t>
            </a:r>
            <a:br/>
            <a:r>
              <a:t>•  The taste and ear that becomes Major 72's core IP</a:t>
            </a:r>
            <a:br/>
            <a:r>
              <a:t>•  The vision for a platform where professional judgment scales to infinite tracks</a:t>
            </a:r>
          </a:p>
        </p:txBody>
      </p:sp>
      <p:sp>
        <p:nvSpPr>
          <p:cNvPr id="7" name="TextBox 6"/>
          <p:cNvSpPr txBox="1"/>
          <p:nvPr/>
        </p:nvSpPr>
        <p:spPr>
          <a:xfrm>
            <a:off x="1371600" y="5303520"/>
            <a:ext cx="9144000" cy="914400"/>
          </a:xfrm>
          <a:prstGeom prst="rect">
            <a:avLst/>
          </a:prstGeom>
          <a:noFill/>
        </p:spPr>
        <p:txBody>
          <a:bodyPr wrap="square">
            <a:spAutoFit/>
          </a:bodyPr>
          <a:lstStyle/>
          <a:p>
            <a:pPr algn="ctr">
              <a:defRPr sz="1400" b="0">
                <a:solidFill>
                  <a:srgbClr val="6B6B6B"/>
                </a:solidFill>
                <a:latin typeface="Calibri"/>
              </a:defRPr>
            </a:pPr>
            <a:r>
              <a:t>We are building out the technical team. Key hires needed:</a:t>
            </a:r>
            <a:br/>
            <a:r>
              <a:t>CTO / ML Engineering Lead  •  Full-Stack Engineer  •  Audio DSP Specialist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D4A537"/>
                </a:solidFill>
                <a:latin typeface="Calibri"/>
              </a:defRPr>
            </a:pPr>
            <a:r>
              <a:t>THE ASK</a:t>
            </a:r>
          </a:p>
        </p:txBody>
      </p:sp>
      <p:sp>
        <p:nvSpPr>
          <p:cNvPr id="3" name="Rectangle 2"/>
          <p:cNvSpPr/>
          <p:nvPr/>
        </p:nvSpPr>
        <p:spPr>
          <a:xfrm>
            <a:off x="731520" y="109728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731520"/>
          </a:xfrm>
          <a:prstGeom prst="rect">
            <a:avLst/>
          </a:prstGeom>
          <a:noFill/>
        </p:spPr>
        <p:txBody>
          <a:bodyPr wrap="square">
            <a:spAutoFit/>
          </a:bodyPr>
          <a:lstStyle/>
          <a:p>
            <a:pPr algn="ctr">
              <a:defRPr sz="2200" b="1">
                <a:solidFill>
                  <a:srgbClr val="FFFFFF"/>
                </a:solidFill>
                <a:latin typeface="Calibri"/>
              </a:defRPr>
            </a:pPr>
            <a:r>
              <a:t>We are raising a seed round to build and launch the</a:t>
            </a:r>
            <a:br/>
            <a:r>
              <a:t>"Hear It" MVP and "Gift It" consumer product.</a:t>
            </a:r>
          </a:p>
        </p:txBody>
      </p:sp>
      <p:sp>
        <p:nvSpPr>
          <p:cNvPr id="5" name="Oval 4"/>
          <p:cNvSpPr/>
          <p:nvPr/>
        </p:nvSpPr>
        <p:spPr>
          <a:xfrm>
            <a:off x="1828800" y="292608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21212"/>
                </a:solidFill>
                <a:latin typeface="Calibri"/>
              </a:defRPr>
            </a:pPr>
            <a:r>
              <a:t>1</a:t>
            </a:r>
          </a:p>
        </p:txBody>
      </p:sp>
      <p:sp>
        <p:nvSpPr>
          <p:cNvPr id="6" name="TextBox 5"/>
          <p:cNvSpPr txBox="1"/>
          <p:nvPr/>
        </p:nvSpPr>
        <p:spPr>
          <a:xfrm>
            <a:off x="2560320" y="2926080"/>
            <a:ext cx="2286000" cy="457200"/>
          </a:xfrm>
          <a:prstGeom prst="rect">
            <a:avLst/>
          </a:prstGeom>
          <a:noFill/>
        </p:spPr>
        <p:txBody>
          <a:bodyPr wrap="square">
            <a:spAutoFit/>
          </a:bodyPr>
          <a:lstStyle/>
          <a:p>
            <a:pPr algn="l">
              <a:defRPr sz="1500" b="1">
                <a:solidFill>
                  <a:srgbClr val="D4A537"/>
                </a:solidFill>
                <a:latin typeface="Calibri"/>
              </a:defRPr>
            </a:pPr>
            <a:r>
              <a:t>Core Engine Development</a:t>
            </a:r>
          </a:p>
        </p:txBody>
      </p:sp>
      <p:sp>
        <p:nvSpPr>
          <p:cNvPr id="7" name="TextBox 6"/>
          <p:cNvSpPr txBox="1"/>
          <p:nvPr/>
        </p:nvSpPr>
        <p:spPr>
          <a:xfrm>
            <a:off x="4846320" y="2926080"/>
            <a:ext cx="5943600" cy="457200"/>
          </a:xfrm>
          <a:prstGeom prst="rect">
            <a:avLst/>
          </a:prstGeom>
          <a:noFill/>
        </p:spPr>
        <p:txBody>
          <a:bodyPr wrap="square">
            <a:spAutoFit/>
          </a:bodyPr>
          <a:lstStyle/>
          <a:p>
            <a:pPr algn="l">
              <a:defRPr sz="1300" b="0">
                <a:solidFill>
                  <a:srgbClr val="E0E0E0"/>
                </a:solidFill>
                <a:latin typeface="Calibri"/>
              </a:defRPr>
            </a:pPr>
            <a:r>
              <a:t>Stem separation, mixing/mastering pipeline, Creative Mode architecture</a:t>
            </a:r>
          </a:p>
        </p:txBody>
      </p:sp>
      <p:sp>
        <p:nvSpPr>
          <p:cNvPr id="8" name="Oval 7"/>
          <p:cNvSpPr/>
          <p:nvPr/>
        </p:nvSpPr>
        <p:spPr>
          <a:xfrm>
            <a:off x="1828800" y="361188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21212"/>
                </a:solidFill>
                <a:latin typeface="Calibri"/>
              </a:defRPr>
            </a:pPr>
            <a:r>
              <a:t>2</a:t>
            </a:r>
          </a:p>
        </p:txBody>
      </p:sp>
      <p:sp>
        <p:nvSpPr>
          <p:cNvPr id="9" name="TextBox 8"/>
          <p:cNvSpPr txBox="1"/>
          <p:nvPr/>
        </p:nvSpPr>
        <p:spPr>
          <a:xfrm>
            <a:off x="2560320" y="3611880"/>
            <a:ext cx="2286000" cy="457200"/>
          </a:xfrm>
          <a:prstGeom prst="rect">
            <a:avLst/>
          </a:prstGeom>
          <a:noFill/>
        </p:spPr>
        <p:txBody>
          <a:bodyPr wrap="square">
            <a:spAutoFit/>
          </a:bodyPr>
          <a:lstStyle/>
          <a:p>
            <a:pPr algn="l">
              <a:defRPr sz="1500" b="1">
                <a:solidFill>
                  <a:srgbClr val="D4A537"/>
                </a:solidFill>
                <a:latin typeface="Calibri"/>
              </a:defRPr>
            </a:pPr>
            <a:r>
              <a:t>Eddie Signature Mode</a:t>
            </a:r>
          </a:p>
        </p:txBody>
      </p:sp>
      <p:sp>
        <p:nvSpPr>
          <p:cNvPr id="10" name="TextBox 9"/>
          <p:cNvSpPr txBox="1"/>
          <p:nvPr/>
        </p:nvSpPr>
        <p:spPr>
          <a:xfrm>
            <a:off x="4846320" y="3611880"/>
            <a:ext cx="5943600" cy="457200"/>
          </a:xfrm>
          <a:prstGeom prst="rect">
            <a:avLst/>
          </a:prstGeom>
          <a:noFill/>
        </p:spPr>
        <p:txBody>
          <a:bodyPr wrap="square">
            <a:spAutoFit/>
          </a:bodyPr>
          <a:lstStyle/>
          <a:p>
            <a:pPr algn="l">
              <a:defRPr sz="1300" b="0">
                <a:solidFill>
                  <a:srgbClr val="E0E0E0"/>
                </a:solidFill>
                <a:latin typeface="Calibri"/>
              </a:defRPr>
            </a:pPr>
            <a:r>
              <a:t>Calibration tooling, reference track system, approve/reject feedback loop</a:t>
            </a:r>
          </a:p>
        </p:txBody>
      </p:sp>
      <p:sp>
        <p:nvSpPr>
          <p:cNvPr id="11" name="Oval 10"/>
          <p:cNvSpPr/>
          <p:nvPr/>
        </p:nvSpPr>
        <p:spPr>
          <a:xfrm>
            <a:off x="1828800" y="429768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21212"/>
                </a:solidFill>
                <a:latin typeface="Calibri"/>
              </a:defRPr>
            </a:pPr>
            <a:r>
              <a:t>3</a:t>
            </a:r>
          </a:p>
        </p:txBody>
      </p:sp>
      <p:sp>
        <p:nvSpPr>
          <p:cNvPr id="12" name="TextBox 11"/>
          <p:cNvSpPr txBox="1"/>
          <p:nvPr/>
        </p:nvSpPr>
        <p:spPr>
          <a:xfrm>
            <a:off x="2560320" y="4297680"/>
            <a:ext cx="2286000" cy="457200"/>
          </a:xfrm>
          <a:prstGeom prst="rect">
            <a:avLst/>
          </a:prstGeom>
          <a:noFill/>
        </p:spPr>
        <p:txBody>
          <a:bodyPr wrap="square">
            <a:spAutoFit/>
          </a:bodyPr>
          <a:lstStyle/>
          <a:p>
            <a:pPr algn="l">
              <a:defRPr sz="1500" b="1">
                <a:solidFill>
                  <a:srgbClr val="D4A537"/>
                </a:solidFill>
                <a:latin typeface="Calibri"/>
              </a:defRPr>
            </a:pPr>
            <a:r>
              <a:t>Platform &amp; Infrastructure</a:t>
            </a:r>
          </a:p>
        </p:txBody>
      </p:sp>
      <p:sp>
        <p:nvSpPr>
          <p:cNvPr id="13" name="TextBox 12"/>
          <p:cNvSpPr txBox="1"/>
          <p:nvPr/>
        </p:nvSpPr>
        <p:spPr>
          <a:xfrm>
            <a:off x="4846320" y="4297680"/>
            <a:ext cx="5943600" cy="457200"/>
          </a:xfrm>
          <a:prstGeom prst="rect">
            <a:avLst/>
          </a:prstGeom>
          <a:noFill/>
        </p:spPr>
        <p:txBody>
          <a:bodyPr wrap="square">
            <a:spAutoFit/>
          </a:bodyPr>
          <a:lstStyle/>
          <a:p>
            <a:pPr algn="l">
              <a:defRPr sz="1300" b="0">
                <a:solidFill>
                  <a:srgbClr val="E0E0E0"/>
                </a:solidFill>
                <a:latin typeface="Calibri"/>
              </a:defRPr>
            </a:pPr>
            <a:r>
              <a:t>Cloud GPU inference fleet, API, storage, billing, user accounts</a:t>
            </a:r>
          </a:p>
        </p:txBody>
      </p:sp>
      <p:sp>
        <p:nvSpPr>
          <p:cNvPr id="14" name="Oval 13"/>
          <p:cNvSpPr/>
          <p:nvPr/>
        </p:nvSpPr>
        <p:spPr>
          <a:xfrm>
            <a:off x="1828800" y="498348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21212"/>
                </a:solidFill>
                <a:latin typeface="Calibri"/>
              </a:defRPr>
            </a:pPr>
            <a:r>
              <a:t>4</a:t>
            </a:r>
          </a:p>
        </p:txBody>
      </p:sp>
      <p:sp>
        <p:nvSpPr>
          <p:cNvPr id="15" name="TextBox 14"/>
          <p:cNvSpPr txBox="1"/>
          <p:nvPr/>
        </p:nvSpPr>
        <p:spPr>
          <a:xfrm>
            <a:off x="2560320" y="4983480"/>
            <a:ext cx="2286000" cy="457200"/>
          </a:xfrm>
          <a:prstGeom prst="rect">
            <a:avLst/>
          </a:prstGeom>
          <a:noFill/>
        </p:spPr>
        <p:txBody>
          <a:bodyPr wrap="square">
            <a:spAutoFit/>
          </a:bodyPr>
          <a:lstStyle/>
          <a:p>
            <a:pPr algn="l">
              <a:defRPr sz="1500" b="1">
                <a:solidFill>
                  <a:srgbClr val="D4A537"/>
                </a:solidFill>
                <a:latin typeface="Calibri"/>
              </a:defRPr>
            </a:pPr>
            <a:r>
              <a:t>Go-to-Market</a:t>
            </a:r>
          </a:p>
        </p:txBody>
      </p:sp>
      <p:sp>
        <p:nvSpPr>
          <p:cNvPr id="16" name="TextBox 15"/>
          <p:cNvSpPr txBox="1"/>
          <p:nvPr/>
        </p:nvSpPr>
        <p:spPr>
          <a:xfrm>
            <a:off x="4846320" y="4983480"/>
            <a:ext cx="5943600" cy="457200"/>
          </a:xfrm>
          <a:prstGeom prst="rect">
            <a:avLst/>
          </a:prstGeom>
          <a:noFill/>
        </p:spPr>
        <p:txBody>
          <a:bodyPr wrap="square">
            <a:spAutoFit/>
          </a:bodyPr>
          <a:lstStyle/>
          <a:p>
            <a:pPr algn="l">
              <a:defRPr sz="1300" b="0">
                <a:solidFill>
                  <a:srgbClr val="E0E0E0"/>
                </a:solidFill>
                <a:latin typeface="Calibri"/>
              </a:defRPr>
            </a:pPr>
            <a:r>
              <a:t>YouTube content campaign, producer community outreach, Gift It consumer launch</a:t>
            </a:r>
          </a:p>
        </p:txBody>
      </p:sp>
      <p:sp>
        <p:nvSpPr>
          <p:cNvPr id="17" name="Oval 16"/>
          <p:cNvSpPr/>
          <p:nvPr/>
        </p:nvSpPr>
        <p:spPr>
          <a:xfrm>
            <a:off x="1828800" y="566928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21212"/>
                </a:solidFill>
                <a:latin typeface="Calibri"/>
              </a:defRPr>
            </a:pPr>
            <a:r>
              <a:t>5</a:t>
            </a:r>
          </a:p>
        </p:txBody>
      </p:sp>
      <p:sp>
        <p:nvSpPr>
          <p:cNvPr id="18" name="TextBox 17"/>
          <p:cNvSpPr txBox="1"/>
          <p:nvPr/>
        </p:nvSpPr>
        <p:spPr>
          <a:xfrm>
            <a:off x="2560320" y="5669280"/>
            <a:ext cx="2286000" cy="457200"/>
          </a:xfrm>
          <a:prstGeom prst="rect">
            <a:avLst/>
          </a:prstGeom>
          <a:noFill/>
        </p:spPr>
        <p:txBody>
          <a:bodyPr wrap="square">
            <a:spAutoFit/>
          </a:bodyPr>
          <a:lstStyle/>
          <a:p>
            <a:pPr algn="l">
              <a:defRPr sz="1500" b="1">
                <a:solidFill>
                  <a:srgbClr val="D4A537"/>
                </a:solidFill>
                <a:latin typeface="Calibri"/>
              </a:defRPr>
            </a:pPr>
            <a:r>
              <a:t>Team</a:t>
            </a:r>
          </a:p>
        </p:txBody>
      </p:sp>
      <p:sp>
        <p:nvSpPr>
          <p:cNvPr id="19" name="TextBox 18"/>
          <p:cNvSpPr txBox="1"/>
          <p:nvPr/>
        </p:nvSpPr>
        <p:spPr>
          <a:xfrm>
            <a:off x="4846320" y="5669280"/>
            <a:ext cx="5943600" cy="457200"/>
          </a:xfrm>
          <a:prstGeom prst="rect">
            <a:avLst/>
          </a:prstGeom>
          <a:noFill/>
        </p:spPr>
        <p:txBody>
          <a:bodyPr wrap="square">
            <a:spAutoFit/>
          </a:bodyPr>
          <a:lstStyle/>
          <a:p>
            <a:pPr algn="l">
              <a:defRPr sz="1300" b="0">
                <a:solidFill>
                  <a:srgbClr val="E0E0E0"/>
                </a:solidFill>
                <a:latin typeface="Calibri"/>
              </a:defRPr>
            </a:pPr>
            <a:r>
              <a:t>CTO/ML lead, full-stack engineer, audio DSP specialist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5400" b="1">
                <a:solidFill>
                  <a:srgbClr val="D4A537"/>
                </a:solidFill>
                <a:latin typeface="Calibri"/>
              </a:defRPr>
            </a:pPr>
            <a:r>
              <a:t>MAJOR 72 STUDIO</a:t>
            </a:r>
          </a:p>
        </p:txBody>
      </p:sp>
      <p:sp>
        <p:nvSpPr>
          <p:cNvPr id="3" name="Rectangle 2"/>
          <p:cNvSpPr/>
          <p:nvPr/>
        </p:nvSpPr>
        <p:spPr>
          <a:xfrm>
            <a:off x="731520" y="2560320"/>
            <a:ext cx="1828800"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058400" cy="914400"/>
          </a:xfrm>
          <a:prstGeom prst="rect">
            <a:avLst/>
          </a:prstGeom>
          <a:noFill/>
        </p:spPr>
        <p:txBody>
          <a:bodyPr wrap="square">
            <a:spAutoFit/>
          </a:bodyPr>
          <a:lstStyle/>
          <a:p>
            <a:pPr algn="ctr">
              <a:defRPr sz="2400" b="0">
                <a:solidFill>
                  <a:srgbClr val="FFFFFF"/>
                </a:solidFill>
                <a:latin typeface="Calibri"/>
              </a:defRPr>
            </a:pPr>
            <a:r>
              <a:t>In a world of infinite synthetic content,</a:t>
            </a:r>
            <a:br/>
            <a:r>
              <a:t>professional creative judgment is the most valuable currency.</a:t>
            </a:r>
          </a:p>
        </p:txBody>
      </p:sp>
      <p:sp>
        <p:nvSpPr>
          <p:cNvPr id="5" name="TextBox 4"/>
          <p:cNvSpPr txBox="1"/>
          <p:nvPr/>
        </p:nvSpPr>
        <p:spPr>
          <a:xfrm>
            <a:off x="914400" y="4389120"/>
            <a:ext cx="10058400" cy="548640"/>
          </a:xfrm>
          <a:prstGeom prst="rect">
            <a:avLst/>
          </a:prstGeom>
          <a:noFill/>
        </p:spPr>
        <p:txBody>
          <a:bodyPr wrap="square">
            <a:spAutoFit/>
          </a:bodyPr>
          <a:lstStyle/>
          <a:p>
            <a:pPr algn="ctr">
              <a:defRPr sz="3000" b="1">
                <a:solidFill>
                  <a:srgbClr val="D4A537"/>
                </a:solidFill>
                <a:latin typeface="Calibri"/>
              </a:defRPr>
            </a:pPr>
            <a:r>
              <a:t>Your Music. Eddie's Ears.</a:t>
            </a:r>
          </a:p>
        </p:txBody>
      </p:sp>
      <p:sp>
        <p:nvSpPr>
          <p:cNvPr id="6" name="TextBox 5"/>
          <p:cNvSpPr txBox="1"/>
          <p:nvPr/>
        </p:nvSpPr>
        <p:spPr>
          <a:xfrm>
            <a:off x="2743200" y="5486400"/>
            <a:ext cx="6400800" cy="731520"/>
          </a:xfrm>
          <a:prstGeom prst="rect">
            <a:avLst/>
          </a:prstGeom>
          <a:noFill/>
        </p:spPr>
        <p:txBody>
          <a:bodyPr wrap="square">
            <a:spAutoFit/>
          </a:bodyPr>
          <a:lstStyle/>
          <a:p>
            <a:pPr algn="ctr">
              <a:defRPr sz="1600" b="0">
                <a:solidFill>
                  <a:srgbClr val="6B6B6B"/>
                </a:solidFill>
                <a:latin typeface="Calibri"/>
              </a:defRPr>
            </a:pPr>
            <a:r>
              <a:t>eddie@major72.studio  |  major72.studio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